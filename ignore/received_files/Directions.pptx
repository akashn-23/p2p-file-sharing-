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67.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notesSlides/notesSlide68.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9144000" cy="5715000" type="screen16x1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80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4" roundtripDataSignature="AMtx7mjiofawbfgWpL4UowhZ7rhYpCZUOw=="/>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79E21346-10A5-46F4-B98D-F371FF2E8061}">
  <a:tblStyle styleId="{79E21346-10A5-46F4-B98D-F371FF2E806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2" d="100"/>
          <a:sy n="82" d="100"/>
        </p:scale>
        <p:origin x="-1026" y="-78"/>
      </p:cViewPr>
      <p:guideLst>
        <p:guide orient="horz" pos="180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2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2" name="Google Shape;342;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8" name="Google Shape;378;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2" name="Google Shape;392;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8" name="Google Shape;398;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7" name="Google Shape;427;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5" name="Google Shape;485;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6" name="Google Shape;506;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3" name="Google Shape;513;p5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4" name="Google Shape;534;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0" name="Google Shape;540;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7" name="Google Shape;547;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3" name="Google Shape;553;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1" name="Google Shape;561;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7" name="Google Shape;567;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2" name="Google Shape;582;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0" name="Google Shape;590;p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3" name="Google Shape;603;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9" name="Google Shape;609;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7" name="Google Shape;617;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d49983690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3" name="Google Shape;623;gd499836902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0" name="Google Shape;630;p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d49983690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6" name="Google Shape;636;gd499836902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4" name="Google Shape;644;p7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80"/>
          <p:cNvSpPr txBox="1">
            <a:spLocks noGrp="1"/>
          </p:cNvSpPr>
          <p:nvPr>
            <p:ph type="ctrTitle"/>
          </p:nvPr>
        </p:nvSpPr>
        <p:spPr>
          <a:xfrm>
            <a:off x="685800" y="1775355"/>
            <a:ext cx="7772400" cy="1225021"/>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80"/>
          <p:cNvSpPr txBox="1">
            <a:spLocks noGrp="1"/>
          </p:cNvSpPr>
          <p:nvPr>
            <p:ph type="subTitle" idx="1"/>
          </p:nvPr>
        </p:nvSpPr>
        <p:spPr>
          <a:xfrm>
            <a:off x="1371600" y="3238500"/>
            <a:ext cx="6400800" cy="14605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80"/>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80"/>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80"/>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1"/>
          <p:cNvSpPr txBox="1">
            <a:spLocks noGrp="1"/>
          </p:cNvSpPr>
          <p:nvPr>
            <p:ph type="title"/>
          </p:nvPr>
        </p:nvSpPr>
        <p:spPr>
          <a:xfrm>
            <a:off x="457200" y="228865"/>
            <a:ext cx="8229600" cy="9525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1"/>
          <p:cNvSpPr txBox="1">
            <a:spLocks noGrp="1"/>
          </p:cNvSpPr>
          <p:nvPr>
            <p:ph type="body" idx="1"/>
          </p:nvPr>
        </p:nvSpPr>
        <p:spPr>
          <a:xfrm>
            <a:off x="457200" y="1333500"/>
            <a:ext cx="8229600" cy="377163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81"/>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1"/>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1"/>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82"/>
          <p:cNvSpPr txBox="1">
            <a:spLocks noGrp="1"/>
          </p:cNvSpPr>
          <p:nvPr>
            <p:ph type="title"/>
          </p:nvPr>
        </p:nvSpPr>
        <p:spPr>
          <a:xfrm>
            <a:off x="722313" y="3672417"/>
            <a:ext cx="7772400" cy="1135063"/>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82"/>
          <p:cNvSpPr txBox="1">
            <a:spLocks noGrp="1"/>
          </p:cNvSpPr>
          <p:nvPr>
            <p:ph type="body" idx="1"/>
          </p:nvPr>
        </p:nvSpPr>
        <p:spPr>
          <a:xfrm>
            <a:off x="722313" y="2422261"/>
            <a:ext cx="7772400" cy="1250156"/>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82"/>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82"/>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82"/>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83"/>
          <p:cNvSpPr txBox="1">
            <a:spLocks noGrp="1"/>
          </p:cNvSpPr>
          <p:nvPr>
            <p:ph type="title"/>
          </p:nvPr>
        </p:nvSpPr>
        <p:spPr>
          <a:xfrm>
            <a:off x="457200" y="228865"/>
            <a:ext cx="8229600" cy="9525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83"/>
          <p:cNvSpPr txBox="1">
            <a:spLocks noGrp="1"/>
          </p:cNvSpPr>
          <p:nvPr>
            <p:ph type="body" idx="1"/>
          </p:nvPr>
        </p:nvSpPr>
        <p:spPr>
          <a:xfrm>
            <a:off x="457200" y="1333500"/>
            <a:ext cx="4038600" cy="3771636"/>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83"/>
          <p:cNvSpPr txBox="1">
            <a:spLocks noGrp="1"/>
          </p:cNvSpPr>
          <p:nvPr>
            <p:ph type="body" idx="2"/>
          </p:nvPr>
        </p:nvSpPr>
        <p:spPr>
          <a:xfrm>
            <a:off x="4648200" y="1333500"/>
            <a:ext cx="4038600" cy="3771636"/>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83"/>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3"/>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3"/>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4"/>
          <p:cNvSpPr txBox="1">
            <a:spLocks noGrp="1"/>
          </p:cNvSpPr>
          <p:nvPr>
            <p:ph type="title"/>
          </p:nvPr>
        </p:nvSpPr>
        <p:spPr>
          <a:xfrm>
            <a:off x="457200" y="228865"/>
            <a:ext cx="8229600" cy="9525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84"/>
          <p:cNvSpPr txBox="1">
            <a:spLocks noGrp="1"/>
          </p:cNvSpPr>
          <p:nvPr>
            <p:ph type="body" idx="1"/>
          </p:nvPr>
        </p:nvSpPr>
        <p:spPr>
          <a:xfrm>
            <a:off x="457200" y="1279261"/>
            <a:ext cx="4040188" cy="533135"/>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84"/>
          <p:cNvSpPr txBox="1">
            <a:spLocks noGrp="1"/>
          </p:cNvSpPr>
          <p:nvPr>
            <p:ph type="body" idx="2"/>
          </p:nvPr>
        </p:nvSpPr>
        <p:spPr>
          <a:xfrm>
            <a:off x="457200" y="1812396"/>
            <a:ext cx="4040188" cy="329274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84"/>
          <p:cNvSpPr txBox="1">
            <a:spLocks noGrp="1"/>
          </p:cNvSpPr>
          <p:nvPr>
            <p:ph type="body" idx="3"/>
          </p:nvPr>
        </p:nvSpPr>
        <p:spPr>
          <a:xfrm>
            <a:off x="4645026" y="1279261"/>
            <a:ext cx="4041775" cy="533135"/>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84"/>
          <p:cNvSpPr txBox="1">
            <a:spLocks noGrp="1"/>
          </p:cNvSpPr>
          <p:nvPr>
            <p:ph type="body" idx="4"/>
          </p:nvPr>
        </p:nvSpPr>
        <p:spPr>
          <a:xfrm>
            <a:off x="4645026" y="1812396"/>
            <a:ext cx="4041775" cy="329274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84"/>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84"/>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84"/>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5"/>
          <p:cNvSpPr txBox="1">
            <a:spLocks noGrp="1"/>
          </p:cNvSpPr>
          <p:nvPr>
            <p:ph type="title"/>
          </p:nvPr>
        </p:nvSpPr>
        <p:spPr>
          <a:xfrm>
            <a:off x="457200" y="228865"/>
            <a:ext cx="8229600" cy="9525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5"/>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5"/>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5"/>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6"/>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6"/>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6"/>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87"/>
          <p:cNvSpPr txBox="1">
            <a:spLocks noGrp="1"/>
          </p:cNvSpPr>
          <p:nvPr>
            <p:ph type="title"/>
          </p:nvPr>
        </p:nvSpPr>
        <p:spPr>
          <a:xfrm>
            <a:off x="457201" y="227542"/>
            <a:ext cx="3008313" cy="96837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87"/>
          <p:cNvSpPr txBox="1">
            <a:spLocks noGrp="1"/>
          </p:cNvSpPr>
          <p:nvPr>
            <p:ph type="body" idx="1"/>
          </p:nvPr>
        </p:nvSpPr>
        <p:spPr>
          <a:xfrm>
            <a:off x="3575050" y="227542"/>
            <a:ext cx="5111750" cy="4877594"/>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87"/>
          <p:cNvSpPr txBox="1">
            <a:spLocks noGrp="1"/>
          </p:cNvSpPr>
          <p:nvPr>
            <p:ph type="body" idx="2"/>
          </p:nvPr>
        </p:nvSpPr>
        <p:spPr>
          <a:xfrm>
            <a:off x="457201" y="1195917"/>
            <a:ext cx="3008313" cy="3909219"/>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87"/>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7"/>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7"/>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88"/>
          <p:cNvSpPr txBox="1">
            <a:spLocks noGrp="1"/>
          </p:cNvSpPr>
          <p:nvPr>
            <p:ph type="title"/>
          </p:nvPr>
        </p:nvSpPr>
        <p:spPr>
          <a:xfrm>
            <a:off x="1792288" y="4000500"/>
            <a:ext cx="5486400" cy="47228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88"/>
          <p:cNvSpPr>
            <a:spLocks noGrp="1"/>
          </p:cNvSpPr>
          <p:nvPr>
            <p:ph type="pic" idx="2"/>
          </p:nvPr>
        </p:nvSpPr>
        <p:spPr>
          <a:xfrm>
            <a:off x="1792288" y="510646"/>
            <a:ext cx="5486400" cy="3429000"/>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88"/>
          <p:cNvSpPr txBox="1">
            <a:spLocks noGrp="1"/>
          </p:cNvSpPr>
          <p:nvPr>
            <p:ph type="body" idx="1"/>
          </p:nvPr>
        </p:nvSpPr>
        <p:spPr>
          <a:xfrm>
            <a:off x="1792288" y="4472782"/>
            <a:ext cx="5486400" cy="670718"/>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88"/>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8"/>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8"/>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89"/>
          <p:cNvSpPr txBox="1">
            <a:spLocks noGrp="1"/>
          </p:cNvSpPr>
          <p:nvPr>
            <p:ph type="title"/>
          </p:nvPr>
        </p:nvSpPr>
        <p:spPr>
          <a:xfrm>
            <a:off x="457200" y="228865"/>
            <a:ext cx="8229600" cy="9525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89"/>
          <p:cNvSpPr txBox="1">
            <a:spLocks noGrp="1"/>
          </p:cNvSpPr>
          <p:nvPr>
            <p:ph type="body" idx="1"/>
          </p:nvPr>
        </p:nvSpPr>
        <p:spPr>
          <a:xfrm rot="5400000">
            <a:off x="2686182" y="-895482"/>
            <a:ext cx="3771636"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89"/>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89"/>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89"/>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90"/>
          <p:cNvSpPr txBox="1">
            <a:spLocks noGrp="1"/>
          </p:cNvSpPr>
          <p:nvPr>
            <p:ph type="title"/>
          </p:nvPr>
        </p:nvSpPr>
        <p:spPr>
          <a:xfrm rot="5400000">
            <a:off x="5219964" y="1638300"/>
            <a:ext cx="4876271"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90"/>
          <p:cNvSpPr txBox="1">
            <a:spLocks noGrp="1"/>
          </p:cNvSpPr>
          <p:nvPr>
            <p:ph type="body" idx="1"/>
          </p:nvPr>
        </p:nvSpPr>
        <p:spPr>
          <a:xfrm rot="5400000">
            <a:off x="1028965" y="-342899"/>
            <a:ext cx="4876271"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90"/>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0"/>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0"/>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9"/>
          <p:cNvSpPr txBox="1">
            <a:spLocks noGrp="1"/>
          </p:cNvSpPr>
          <p:nvPr>
            <p:ph type="title"/>
          </p:nvPr>
        </p:nvSpPr>
        <p:spPr>
          <a:xfrm>
            <a:off x="457200" y="228865"/>
            <a:ext cx="8229600" cy="9525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79"/>
          <p:cNvSpPr txBox="1">
            <a:spLocks noGrp="1"/>
          </p:cNvSpPr>
          <p:nvPr>
            <p:ph type="body" idx="1"/>
          </p:nvPr>
        </p:nvSpPr>
        <p:spPr>
          <a:xfrm>
            <a:off x="457200" y="1333500"/>
            <a:ext cx="8229600" cy="3771636"/>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79"/>
          <p:cNvSpPr txBox="1">
            <a:spLocks noGrp="1"/>
          </p:cNvSpPr>
          <p:nvPr>
            <p:ph type="dt" idx="10"/>
          </p:nvPr>
        </p:nvSpPr>
        <p:spPr>
          <a:xfrm>
            <a:off x="457200" y="5296959"/>
            <a:ext cx="2133600" cy="30427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79"/>
          <p:cNvSpPr txBox="1">
            <a:spLocks noGrp="1"/>
          </p:cNvSpPr>
          <p:nvPr>
            <p:ph type="ftr" idx="11"/>
          </p:nvPr>
        </p:nvSpPr>
        <p:spPr>
          <a:xfrm>
            <a:off x="3124200" y="5296959"/>
            <a:ext cx="2895600" cy="304271"/>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79"/>
          <p:cNvSpPr txBox="1">
            <a:spLocks noGrp="1"/>
          </p:cNvSpPr>
          <p:nvPr>
            <p:ph type="sldNum" idx="12"/>
          </p:nvPr>
        </p:nvSpPr>
        <p:spPr>
          <a:xfrm>
            <a:off x="6553200" y="5296959"/>
            <a:ext cx="2133600" cy="304271"/>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1.gif"/></Relationships>
</file>

<file path=ppt/slides/_rels/slide4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4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7.jpeg"/></Relationships>
</file>

<file path=ppt/slides/_rels/slide5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2.jpeg"/></Relationships>
</file>

<file path=ppt/slides/_rels/slide6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4.jpeg"/></Relationships>
</file>

<file path=ppt/slides/_rels/slide6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5.jpeg"/></Relationships>
</file>

<file path=ppt/slides/_rels/slide6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6.jpeg"/></Relationships>
</file>

<file path=ppt/slides/_rels/slide6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8.jpeg"/></Relationships>
</file>

<file path=ppt/slides/_rels/slide7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7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0.png"/></Relationships>
</file>

<file path=ppt/slides/_rels/slide7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1775355"/>
            <a:ext cx="7772400" cy="122502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smtClean="0"/>
              <a:t>5</a:t>
            </a:r>
            <a:endParaRPr/>
          </a:p>
        </p:txBody>
      </p:sp>
      <p:sp>
        <p:nvSpPr>
          <p:cNvPr id="85" name="Google Shape;85;p1"/>
          <p:cNvSpPr txBox="1">
            <a:spLocks noGrp="1"/>
          </p:cNvSpPr>
          <p:nvPr>
            <p:ph type="subTitle" idx="1"/>
          </p:nvPr>
        </p:nvSpPr>
        <p:spPr>
          <a:xfrm>
            <a:off x="1371600" y="3238500"/>
            <a:ext cx="6400800" cy="1460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86" name="Google Shape;86;p1" descr="Scroll PPT | Antique Scroll PowerPoint Template | Powerpoint background  templates, Background powerpoint, Background for powerpoint presentation"/>
          <p:cNvPicPr preferRelativeResize="0"/>
          <p:nvPr/>
        </p:nvPicPr>
        <p:blipFill rotWithShape="1">
          <a:blip r:embed="rId3">
            <a:alphaModFix/>
          </a:blip>
          <a:srcRect/>
          <a:stretch/>
        </p:blipFill>
        <p:spPr>
          <a:xfrm>
            <a:off x="0" y="0"/>
            <a:ext cx="9144000" cy="5695267"/>
          </a:xfrm>
          <a:prstGeom prst="rect">
            <a:avLst/>
          </a:prstGeom>
          <a:noFill/>
          <a:ln>
            <a:noFill/>
          </a:ln>
        </p:spPr>
      </p:pic>
      <p:sp>
        <p:nvSpPr>
          <p:cNvPr id="87" name="Google Shape;87;p1"/>
          <p:cNvSpPr/>
          <p:nvPr/>
        </p:nvSpPr>
        <p:spPr>
          <a:xfrm>
            <a:off x="2133600" y="2400300"/>
            <a:ext cx="5353966" cy="1323439"/>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8000" b="1" i="0" u="none" strike="noStrike" cap="none">
                <a:solidFill>
                  <a:srgbClr val="3A1A62"/>
                </a:solidFill>
                <a:latin typeface="Calibri"/>
                <a:ea typeface="Calibri"/>
                <a:cs typeface="Calibri"/>
                <a:sym typeface="Calibri"/>
              </a:rPr>
              <a:t>DIRECTIONS</a:t>
            </a:r>
            <a:endParaRPr sz="8000" b="1" i="0" u="none" strike="noStrike" cap="none">
              <a:solidFill>
                <a:srgbClr val="515151"/>
              </a:solidFill>
              <a:latin typeface="Calibri"/>
              <a:ea typeface="Calibri"/>
              <a:cs typeface="Calibri"/>
              <a:sym typeface="Calibri"/>
            </a:endParaRPr>
          </a:p>
        </p:txBody>
      </p:sp>
      <p:pic>
        <p:nvPicPr>
          <p:cNvPr id="88" name="Google Shape;88;p1" descr="Compass on White Background Compass with Red Magnetic Needle Pointing Toward the North on White Background 3D Illustration Navigational Compass Stock Photo"/>
          <p:cNvPicPr preferRelativeResize="0"/>
          <p:nvPr/>
        </p:nvPicPr>
        <p:blipFill rotWithShape="1">
          <a:blip r:embed="rId4">
            <a:alphaModFix/>
          </a:blip>
          <a:srcRect/>
          <a:stretch/>
        </p:blipFill>
        <p:spPr>
          <a:xfrm>
            <a:off x="1295400" y="1104900"/>
            <a:ext cx="1625938" cy="1487619"/>
          </a:xfrm>
          <a:prstGeom prst="rect">
            <a:avLst/>
          </a:prstGeom>
          <a:noFill/>
          <a:ln>
            <a:noFill/>
          </a:ln>
        </p:spPr>
      </p:pic>
      <p:pic>
        <p:nvPicPr>
          <p:cNvPr id="89" name="Google Shape;89;p1" descr="https://media.istockphoto.com/photos/compass-in-hand-mountain-road-background-vintage-tone-picture-id958510852?k=6&amp;m=958510852&amp;s=612x612&amp;w=0&amp;h=VV6EXp7PVP_HuIcVYzgKZanEoS7lbJ_pZFdX4r2jKnk="/>
          <p:cNvPicPr preferRelativeResize="0"/>
          <p:nvPr/>
        </p:nvPicPr>
        <p:blipFill rotWithShape="1">
          <a:blip r:embed="rId5">
            <a:alphaModFix/>
          </a:blip>
          <a:srcRect/>
          <a:stretch/>
        </p:blipFill>
        <p:spPr>
          <a:xfrm>
            <a:off x="6477000" y="876300"/>
            <a:ext cx="2209800" cy="146959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2" descr="My Journal Powerpoint Templates - Education, Orange, Silver, White - Free  PPT… in 2020 | Powerpoint background design, Ppt slide background,  Powerpoint background templates"/>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95" name="Google Shape;95;p2"/>
          <p:cNvSpPr txBox="1">
            <a:spLocks noGrp="1"/>
          </p:cNvSpPr>
          <p:nvPr>
            <p:ph type="title"/>
          </p:nvPr>
        </p:nvSpPr>
        <p:spPr>
          <a:xfrm>
            <a:off x="1676400" y="228865"/>
            <a:ext cx="7010400" cy="952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Introduction</a:t>
            </a:r>
            <a:endParaRPr b="1"/>
          </a:p>
        </p:txBody>
      </p:sp>
      <p:sp>
        <p:nvSpPr>
          <p:cNvPr id="96" name="Google Shape;96;p2"/>
          <p:cNvSpPr txBox="1">
            <a:spLocks noGrp="1"/>
          </p:cNvSpPr>
          <p:nvPr>
            <p:ph type="body" idx="1"/>
          </p:nvPr>
        </p:nvSpPr>
        <p:spPr>
          <a:xfrm>
            <a:off x="1447800" y="1333500"/>
            <a:ext cx="7239000" cy="377163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GB"/>
              <a:t>There are four main directions - </a:t>
            </a:r>
            <a:r>
              <a:rPr lang="en-GB" b="1"/>
              <a:t>East</a:t>
            </a:r>
            <a:r>
              <a:rPr lang="en-GB"/>
              <a:t>, </a:t>
            </a:r>
            <a:r>
              <a:rPr lang="en-GB" b="1"/>
              <a:t>West</a:t>
            </a:r>
            <a:r>
              <a:rPr lang="en-GB"/>
              <a:t>, </a:t>
            </a:r>
            <a:r>
              <a:rPr lang="en-GB" b="1"/>
              <a:t>North</a:t>
            </a:r>
            <a:r>
              <a:rPr lang="en-GB"/>
              <a:t> and </a:t>
            </a:r>
            <a:r>
              <a:rPr lang="en-GB" b="1"/>
              <a:t>South</a:t>
            </a:r>
            <a:r>
              <a:rPr lang="en-GB"/>
              <a:t> as shown below:</a:t>
            </a:r>
            <a:endParaRPr/>
          </a:p>
          <a:p>
            <a:pPr marL="342900" lvl="0" indent="-342900" algn="l" rtl="0">
              <a:spcBef>
                <a:spcPts val="640"/>
              </a:spcBef>
              <a:spcAft>
                <a:spcPts val="0"/>
              </a:spcAft>
              <a:buClr>
                <a:schemeClr val="dk1"/>
              </a:buClr>
              <a:buSzPts val="3200"/>
              <a:buNone/>
            </a:pPr>
            <a:endParaRPr/>
          </a:p>
        </p:txBody>
      </p:sp>
      <p:sp>
        <p:nvSpPr>
          <p:cNvPr id="97" name="Google Shape;97;p2"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 name="Google Shape;98;p2"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2"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00;p2"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1" name="Google Shape;101;p2"/>
          <p:cNvPicPr preferRelativeResize="0"/>
          <p:nvPr/>
        </p:nvPicPr>
        <p:blipFill rotWithShape="1">
          <a:blip r:embed="rId4">
            <a:alphaModFix/>
          </a:blip>
          <a:srcRect/>
          <a:stretch/>
        </p:blipFill>
        <p:spPr>
          <a:xfrm>
            <a:off x="4191000" y="3162300"/>
            <a:ext cx="1981200" cy="1665611"/>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3" descr="My Journal Powerpoint Templates - Education, Orange, Silver, White - Free  PPT… in 2020 | Powerpoint background design, Ppt slide background,  Powerpoint background templates"/>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107" name="Google Shape;107;p3"/>
          <p:cNvSpPr txBox="1">
            <a:spLocks noGrp="1"/>
          </p:cNvSpPr>
          <p:nvPr>
            <p:ph type="title"/>
          </p:nvPr>
        </p:nvSpPr>
        <p:spPr>
          <a:xfrm>
            <a:off x="1676400" y="228865"/>
            <a:ext cx="7010400" cy="952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Introduction</a:t>
            </a:r>
            <a:endParaRPr b="1"/>
          </a:p>
        </p:txBody>
      </p:sp>
      <p:sp>
        <p:nvSpPr>
          <p:cNvPr id="108" name="Google Shape;108;p3"/>
          <p:cNvSpPr txBox="1">
            <a:spLocks noGrp="1"/>
          </p:cNvSpPr>
          <p:nvPr>
            <p:ph type="body" idx="1"/>
          </p:nvPr>
        </p:nvSpPr>
        <p:spPr>
          <a:xfrm>
            <a:off x="1447800" y="1333500"/>
            <a:ext cx="7239000" cy="377163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GB"/>
              <a:t>There are four cardinal directions - </a:t>
            </a:r>
            <a:r>
              <a:rPr lang="en-GB" b="1"/>
              <a:t>North-East (N-E)</a:t>
            </a:r>
            <a:r>
              <a:rPr lang="en-GB"/>
              <a:t>, </a:t>
            </a:r>
            <a:r>
              <a:rPr lang="en-GB" b="1"/>
              <a:t>North-West (N-W)</a:t>
            </a:r>
            <a:r>
              <a:rPr lang="en-GB"/>
              <a:t>, </a:t>
            </a:r>
            <a:r>
              <a:rPr lang="en-GB" b="1"/>
              <a:t>South-East (S-E)</a:t>
            </a:r>
            <a:r>
              <a:rPr lang="en-GB"/>
              <a:t>, and </a:t>
            </a:r>
            <a:r>
              <a:rPr lang="en-GB" b="1"/>
              <a:t>South-West (S-W)</a:t>
            </a:r>
            <a:r>
              <a:rPr lang="en-GB"/>
              <a:t> as shown below:</a:t>
            </a:r>
            <a:endParaRPr/>
          </a:p>
          <a:p>
            <a:pPr marL="342900" lvl="0" indent="-342900" algn="l" rtl="0">
              <a:spcBef>
                <a:spcPts val="640"/>
              </a:spcBef>
              <a:spcAft>
                <a:spcPts val="0"/>
              </a:spcAft>
              <a:buClr>
                <a:schemeClr val="dk1"/>
              </a:buClr>
              <a:buSzPts val="3200"/>
              <a:buNone/>
            </a:pPr>
            <a:endParaRPr/>
          </a:p>
        </p:txBody>
      </p:sp>
      <p:sp>
        <p:nvSpPr>
          <p:cNvPr id="109" name="Google Shape;109;p3"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3"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3"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3"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3" name="Google Shape;113;p3"/>
          <p:cNvPicPr preferRelativeResize="0"/>
          <p:nvPr/>
        </p:nvPicPr>
        <p:blipFill rotWithShape="1">
          <a:blip r:embed="rId4">
            <a:alphaModFix/>
          </a:blip>
          <a:srcRect/>
          <a:stretch/>
        </p:blipFill>
        <p:spPr>
          <a:xfrm>
            <a:off x="3505200" y="3543300"/>
            <a:ext cx="2743200" cy="1828800"/>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4" descr="My Journal Powerpoint Templates - Education, Orange, Silver, White - Free  PPT… in 2020 | Powerpoint background design, Ppt slide background,  Powerpoint background templates"/>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119" name="Google Shape;119;p4"/>
          <p:cNvSpPr txBox="1">
            <a:spLocks noGrp="1"/>
          </p:cNvSpPr>
          <p:nvPr>
            <p:ph type="title"/>
          </p:nvPr>
        </p:nvSpPr>
        <p:spPr>
          <a:xfrm>
            <a:off x="1676400" y="228865"/>
            <a:ext cx="7010400" cy="952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Introduction</a:t>
            </a:r>
            <a:endParaRPr b="1"/>
          </a:p>
        </p:txBody>
      </p:sp>
      <p:sp>
        <p:nvSpPr>
          <p:cNvPr id="120" name="Google Shape;120;p4"/>
          <p:cNvSpPr txBox="1">
            <a:spLocks noGrp="1"/>
          </p:cNvSpPr>
          <p:nvPr>
            <p:ph type="body" idx="1"/>
          </p:nvPr>
        </p:nvSpPr>
        <p:spPr>
          <a:xfrm>
            <a:off x="1447800" y="1333500"/>
            <a:ext cx="7239000" cy="3771636"/>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GB" dirty="0"/>
              <a:t>At the time of </a:t>
            </a:r>
            <a:r>
              <a:rPr lang="en-GB" dirty="0" smtClean="0"/>
              <a:t>sunrise(Dawn) </a:t>
            </a:r>
            <a:r>
              <a:rPr lang="en-GB" dirty="0"/>
              <a:t>if a man stands facing the east, his shadow will be towards west.</a:t>
            </a:r>
            <a:endParaRPr/>
          </a:p>
          <a:p>
            <a:pPr marL="342900" lvl="0" indent="-342900" algn="l" rtl="0">
              <a:spcBef>
                <a:spcPts val="544"/>
              </a:spcBef>
              <a:spcAft>
                <a:spcPts val="0"/>
              </a:spcAft>
              <a:buClr>
                <a:schemeClr val="dk1"/>
              </a:buClr>
              <a:buSzPct val="100000"/>
              <a:buChar char="•"/>
            </a:pPr>
            <a:r>
              <a:rPr lang="en-GB" dirty="0"/>
              <a:t>At the time of </a:t>
            </a:r>
            <a:r>
              <a:rPr lang="en-GB" dirty="0" smtClean="0"/>
              <a:t>sunset(Dusk) </a:t>
            </a:r>
            <a:r>
              <a:rPr lang="en-GB" dirty="0"/>
              <a:t>the shadow of an object is always in the east.</a:t>
            </a:r>
            <a:endParaRPr/>
          </a:p>
          <a:p>
            <a:pPr marL="342900" lvl="0" indent="-342900" algn="l" rtl="0">
              <a:spcBef>
                <a:spcPts val="544"/>
              </a:spcBef>
              <a:spcAft>
                <a:spcPts val="0"/>
              </a:spcAft>
              <a:buClr>
                <a:schemeClr val="dk1"/>
              </a:buClr>
              <a:buSzPct val="100000"/>
              <a:buChar char="•"/>
            </a:pPr>
            <a:r>
              <a:rPr lang="en-GB" dirty="0"/>
              <a:t>If a man stands facing the North, at the time of sunrise his shadow will be towards his left and at the time of sunset it will be towards his right.</a:t>
            </a:r>
            <a:endParaRPr/>
          </a:p>
          <a:p>
            <a:pPr marL="342900" lvl="0" indent="-342900" algn="l" rtl="0">
              <a:spcBef>
                <a:spcPts val="544"/>
              </a:spcBef>
              <a:spcAft>
                <a:spcPts val="0"/>
              </a:spcAft>
              <a:buClr>
                <a:schemeClr val="dk1"/>
              </a:buClr>
              <a:buSzPct val="100000"/>
              <a:buChar char="•"/>
            </a:pPr>
            <a:r>
              <a:rPr lang="en-GB" dirty="0"/>
              <a:t>At 12:00 noon, the rays of the sun are vertically downward hence there will be no shadow.</a:t>
            </a:r>
            <a:endParaRPr/>
          </a:p>
          <a:p>
            <a:pPr marL="342900" lvl="0" indent="-342900" algn="l" rtl="0">
              <a:spcBef>
                <a:spcPts val="544"/>
              </a:spcBef>
              <a:spcAft>
                <a:spcPts val="0"/>
              </a:spcAft>
              <a:buClr>
                <a:schemeClr val="dk1"/>
              </a:buClr>
              <a:buSzPct val="100000"/>
              <a:buNone/>
            </a:pPr>
            <a:endParaRPr/>
          </a:p>
        </p:txBody>
      </p:sp>
      <p:sp>
        <p:nvSpPr>
          <p:cNvPr id="121" name="Google Shape;121;p4"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 name="Google Shape;122;p4"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4"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4"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5" descr="My Journal Powerpoint Templates - Education, Orange, Silver, White - Free  PPT… in 2020 | Powerpoint background design, Ppt slide background,  Powerpoint background templates"/>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130" name="Google Shape;130;p5"/>
          <p:cNvSpPr txBox="1">
            <a:spLocks noGrp="1"/>
          </p:cNvSpPr>
          <p:nvPr>
            <p:ph type="title"/>
          </p:nvPr>
        </p:nvSpPr>
        <p:spPr>
          <a:xfrm>
            <a:off x="1676400" y="228865"/>
            <a:ext cx="7010400" cy="952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Introduction</a:t>
            </a:r>
            <a:endParaRPr b="1"/>
          </a:p>
        </p:txBody>
      </p:sp>
      <p:sp>
        <p:nvSpPr>
          <p:cNvPr id="131" name="Google Shape;131;p5"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5"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5"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5" descr="Free Powerpoint Backgrounds and Template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135" name="Google Shape;135;p5"/>
          <p:cNvGraphicFramePr/>
          <p:nvPr/>
        </p:nvGraphicFramePr>
        <p:xfrm>
          <a:off x="2133600" y="2552700"/>
          <a:ext cx="6572250" cy="2705100"/>
        </p:xfrm>
        <a:graphic>
          <a:graphicData uri="http://schemas.openxmlformats.org/drawingml/2006/table">
            <a:tbl>
              <a:tblPr>
                <a:noFill/>
                <a:tableStyleId>{79E21346-10A5-46F4-B98D-F371FF2E8061}</a:tableStyleId>
              </a:tblPr>
              <a:tblGrid>
                <a:gridCol w="2190750"/>
                <a:gridCol w="2190750"/>
                <a:gridCol w="2190750"/>
              </a:tblGrid>
              <a:tr h="254000">
                <a:tc>
                  <a:txBody>
                    <a:bodyPr/>
                    <a:lstStyle/>
                    <a:p>
                      <a:pPr marL="0" marR="0" lvl="0" indent="0" algn="l" rtl="0">
                        <a:spcBef>
                          <a:spcPts val="0"/>
                        </a:spcBef>
                        <a:spcAft>
                          <a:spcPts val="0"/>
                        </a:spcAft>
                        <a:buNone/>
                      </a:pPr>
                      <a:r>
                        <a:rPr lang="en-GB" sz="2000" u="none" strike="noStrike" cap="none" dirty="0">
                          <a:solidFill>
                            <a:schemeClr val="dk1"/>
                          </a:solidFill>
                          <a:latin typeface="Calibri"/>
                          <a:ea typeface="Calibri"/>
                          <a:cs typeface="Calibri"/>
                          <a:sym typeface="Calibri"/>
                        </a:rPr>
                        <a:t>Direction before taking the time</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DDDDD"/>
                    </a:solidFill>
                  </a:tcPr>
                </a:tc>
                <a:tc gridSpan="2">
                  <a:txBody>
                    <a:bodyPr/>
                    <a:lstStyle/>
                    <a:p>
                      <a:pPr marL="0" marR="0" lvl="0" indent="0" algn="l" rtl="0">
                        <a:spcBef>
                          <a:spcPts val="0"/>
                        </a:spcBef>
                        <a:spcAft>
                          <a:spcPts val="0"/>
                        </a:spcAft>
                        <a:buNone/>
                      </a:pPr>
                      <a:r>
                        <a:rPr lang="en-GB" sz="2000" u="none" strike="noStrike" cap="none" dirty="0">
                          <a:solidFill>
                            <a:schemeClr val="dk1"/>
                          </a:solidFill>
                          <a:latin typeface="Calibri"/>
                          <a:ea typeface="Calibri"/>
                          <a:cs typeface="Calibri"/>
                          <a:sym typeface="Calibri"/>
                        </a:rPr>
                        <a:t>Direction in which person will </a:t>
                      </a:r>
                      <a:r>
                        <a:rPr lang="en-GB" sz="2000" u="none" strike="noStrike" cap="none">
                          <a:solidFill>
                            <a:schemeClr val="dk1"/>
                          </a:solidFill>
                          <a:latin typeface="Calibri"/>
                          <a:ea typeface="Calibri"/>
                          <a:cs typeface="Calibri"/>
                          <a:sym typeface="Calibri"/>
                        </a:rPr>
                        <a:t>be </a:t>
                      </a:r>
                      <a:r>
                        <a:rPr lang="en-GB" sz="2000" u="none" strike="noStrike" cap="none" smtClean="0">
                          <a:solidFill>
                            <a:schemeClr val="dk1"/>
                          </a:solidFill>
                          <a:latin typeface="Calibri"/>
                          <a:ea typeface="Calibri"/>
                          <a:cs typeface="Calibri"/>
                          <a:sym typeface="Calibri"/>
                        </a:rPr>
                        <a:t>moving</a:t>
                      </a:r>
                      <a:r>
                        <a:rPr lang="en-GB" sz="2000" u="none" strike="noStrike" cap="none" baseline="0" smtClean="0">
                          <a:solidFill>
                            <a:schemeClr val="dk1"/>
                          </a:solidFill>
                          <a:latin typeface="Calibri"/>
                          <a:ea typeface="Calibri"/>
                          <a:cs typeface="Calibri"/>
                          <a:sym typeface="Calibri"/>
                        </a:rPr>
                        <a:t> </a:t>
                      </a:r>
                      <a:r>
                        <a:rPr lang="en-GB" sz="2000" u="none" strike="noStrike" cap="none" smtClean="0">
                          <a:solidFill>
                            <a:schemeClr val="dk1"/>
                          </a:solidFill>
                          <a:latin typeface="Calibri"/>
                          <a:ea typeface="Calibri"/>
                          <a:cs typeface="Calibri"/>
                          <a:sym typeface="Calibri"/>
                        </a:rPr>
                        <a:t>after </a:t>
                      </a:r>
                      <a:r>
                        <a:rPr lang="en-GB" sz="2000" u="none" strike="noStrike" cap="none" dirty="0">
                          <a:solidFill>
                            <a:schemeClr val="dk1"/>
                          </a:solidFill>
                          <a:latin typeface="Calibri"/>
                          <a:ea typeface="Calibri"/>
                          <a:cs typeface="Calibri"/>
                          <a:sym typeface="Calibri"/>
                        </a:rPr>
                        <a:t>taking time.</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DDDDD"/>
                    </a:solidFill>
                  </a:tcPr>
                </a:tc>
                <a:tc hMerge="1">
                  <a:txBody>
                    <a:bodyPr/>
                    <a:lstStyle/>
                    <a:p>
                      <a:endParaRPr lang="en-US"/>
                    </a:p>
                  </a:txBody>
                  <a:tcPr/>
                </a:tc>
              </a:tr>
              <a:tr h="254000">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 </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Right</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Left</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r>
              <a:tr h="254000">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North</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East</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West</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DDDDD"/>
                    </a:solidFill>
                  </a:tcPr>
                </a:tc>
              </a:tr>
              <a:tr h="254000">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South</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West</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East</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r>
              <a:tr h="254000">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East</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South</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North</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DDDDD"/>
                    </a:solidFill>
                  </a:tcPr>
                </a:tc>
              </a:tr>
              <a:tr h="254000">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West</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North</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marR="0" lvl="0" indent="0" algn="l" rtl="0">
                        <a:spcBef>
                          <a:spcPts val="0"/>
                        </a:spcBef>
                        <a:spcAft>
                          <a:spcPts val="0"/>
                        </a:spcAft>
                        <a:buNone/>
                      </a:pPr>
                      <a:r>
                        <a:rPr lang="en-GB" sz="2000" u="none" strike="noStrike" cap="none">
                          <a:solidFill>
                            <a:schemeClr val="dk1"/>
                          </a:solidFill>
                          <a:latin typeface="Calibri"/>
                          <a:ea typeface="Calibri"/>
                          <a:cs typeface="Calibri"/>
                          <a:sym typeface="Calibri"/>
                        </a:rPr>
                        <a:t>South</a:t>
                      </a:r>
                      <a:endParaRPr/>
                    </a:p>
                  </a:txBody>
                  <a:tcPr marL="95250" marR="95250" marT="47625" marB="476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r>
            </a:tbl>
          </a:graphicData>
        </a:graphic>
      </p:graphicFrame>
      <p:sp>
        <p:nvSpPr>
          <p:cNvPr id="136" name="Google Shape;136;p5"/>
          <p:cNvSpPr txBox="1"/>
          <p:nvPr/>
        </p:nvSpPr>
        <p:spPr>
          <a:xfrm>
            <a:off x="1447800" y="1257300"/>
            <a:ext cx="73152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For solving direction reasoning questions, it is critical that we have a direction sense after movement. Keep in mind the change in direction when a person takes right or left.</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6"/>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142" name="Google Shape;142;p6"/>
          <p:cNvSpPr txBox="1">
            <a:spLocks noGrp="1"/>
          </p:cNvSpPr>
          <p:nvPr>
            <p:ph type="title"/>
          </p:nvPr>
        </p:nvSpPr>
        <p:spPr>
          <a:xfrm>
            <a:off x="762000" y="228865"/>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1:</a:t>
            </a:r>
            <a:r>
              <a:rPr lang="en-GB" sz="2800"/>
              <a:t/>
            </a:r>
            <a:br>
              <a:rPr lang="en-GB" sz="2800"/>
            </a:br>
            <a:r>
              <a:rPr lang="en-GB" sz="2400"/>
              <a:t>Siva starting from his house, goes 5 km in the East, then he turns to his left and goes 4 km. Finally he turns to his left and goes 5 km. Now how far is he from his house and in what direction?</a:t>
            </a:r>
            <a:endParaRPr sz="2800"/>
          </a:p>
        </p:txBody>
      </p:sp>
      <p:sp>
        <p:nvSpPr>
          <p:cNvPr id="143" name="Google Shape;143;p6"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7"/>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149" name="Google Shape;149;p7"/>
          <p:cNvSpPr txBox="1">
            <a:spLocks noGrp="1"/>
          </p:cNvSpPr>
          <p:nvPr>
            <p:ph type="title"/>
          </p:nvPr>
        </p:nvSpPr>
        <p:spPr>
          <a:xfrm>
            <a:off x="762000" y="228865"/>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1:</a:t>
            </a:r>
            <a:r>
              <a:rPr lang="en-GB" sz="2800"/>
              <a:t/>
            </a:r>
            <a:br>
              <a:rPr lang="en-GB" sz="2800"/>
            </a:br>
            <a:r>
              <a:rPr lang="en-GB" sz="2400"/>
              <a:t>Siva starting from his house, goes 5 km in the East, then he turns to his left and goes 4 km. Finally he turns to his left and goes 5 km. Now how far is he from his house and in what direction?</a:t>
            </a:r>
            <a:endParaRPr sz="2800"/>
          </a:p>
        </p:txBody>
      </p:sp>
      <p:sp>
        <p:nvSpPr>
          <p:cNvPr id="150" name="Google Shape;150;p7"/>
          <p:cNvSpPr txBox="1">
            <a:spLocks noGrp="1"/>
          </p:cNvSpPr>
          <p:nvPr>
            <p:ph type="body" idx="1"/>
          </p:nvPr>
        </p:nvSpPr>
        <p:spPr>
          <a:xfrm>
            <a:off x="762000" y="2324100"/>
            <a:ext cx="7924800" cy="278103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None/>
            </a:pPr>
            <a:endParaRPr sz="2000"/>
          </a:p>
          <a:p>
            <a:pPr marL="342900" lvl="0" indent="-342900" algn="l" rtl="0">
              <a:spcBef>
                <a:spcPts val="400"/>
              </a:spcBef>
              <a:spcAft>
                <a:spcPts val="0"/>
              </a:spcAft>
              <a:buClr>
                <a:schemeClr val="dk1"/>
              </a:buClr>
              <a:buSzPts val="2000"/>
              <a:buNone/>
            </a:pPr>
            <a:endParaRPr sz="2000"/>
          </a:p>
          <a:p>
            <a:pPr marL="342900" lvl="0" indent="-342900" algn="l" rtl="0">
              <a:spcBef>
                <a:spcPts val="400"/>
              </a:spcBef>
              <a:spcAft>
                <a:spcPts val="0"/>
              </a:spcAft>
              <a:buClr>
                <a:schemeClr val="dk1"/>
              </a:buClr>
              <a:buSzPts val="2000"/>
              <a:buNone/>
            </a:pPr>
            <a:endParaRPr sz="2000"/>
          </a:p>
          <a:p>
            <a:pPr marL="342900" lvl="0" indent="-342900" algn="l" rtl="0">
              <a:spcBef>
                <a:spcPts val="400"/>
              </a:spcBef>
              <a:spcAft>
                <a:spcPts val="0"/>
              </a:spcAft>
              <a:buClr>
                <a:schemeClr val="dk1"/>
              </a:buClr>
              <a:buSzPts val="2000"/>
              <a:buNone/>
            </a:pPr>
            <a:endParaRPr sz="2000"/>
          </a:p>
          <a:p>
            <a:pPr marL="342900" lvl="0" indent="-342900" algn="l" rtl="0">
              <a:spcBef>
                <a:spcPts val="400"/>
              </a:spcBef>
              <a:spcAft>
                <a:spcPts val="0"/>
              </a:spcAft>
              <a:buClr>
                <a:schemeClr val="dk1"/>
              </a:buClr>
              <a:buSzPts val="2000"/>
              <a:buNone/>
            </a:pPr>
            <a:endParaRPr sz="2000"/>
          </a:p>
          <a:p>
            <a:pPr marL="342900" lvl="0" indent="-342900" algn="l" rtl="0">
              <a:spcBef>
                <a:spcPts val="400"/>
              </a:spcBef>
              <a:spcAft>
                <a:spcPts val="0"/>
              </a:spcAft>
              <a:buClr>
                <a:schemeClr val="dk1"/>
              </a:buClr>
              <a:buSzPts val="2000"/>
              <a:buNone/>
            </a:pPr>
            <a:r>
              <a:rPr lang="en-GB" sz="2000"/>
              <a:t>From third position it is clear he is 4 km from his house and </a:t>
            </a:r>
            <a:endParaRPr/>
          </a:p>
          <a:p>
            <a:pPr marL="342900" lvl="0" indent="-342900" algn="l" rtl="0">
              <a:spcBef>
                <a:spcPts val="400"/>
              </a:spcBef>
              <a:spcAft>
                <a:spcPts val="0"/>
              </a:spcAft>
              <a:buClr>
                <a:schemeClr val="dk1"/>
              </a:buClr>
              <a:buSzPts val="2000"/>
              <a:buNone/>
            </a:pPr>
            <a:r>
              <a:rPr lang="en-GB" sz="2000"/>
              <a:t>is in North direction.</a:t>
            </a:r>
            <a:endParaRPr/>
          </a:p>
          <a:p>
            <a:pPr marL="342900" lvl="0" indent="-139700" algn="l" rtl="0">
              <a:spcBef>
                <a:spcPts val="640"/>
              </a:spcBef>
              <a:spcAft>
                <a:spcPts val="0"/>
              </a:spcAft>
              <a:buClr>
                <a:schemeClr val="dk1"/>
              </a:buClr>
              <a:buSzPts val="3200"/>
              <a:buNone/>
            </a:pPr>
            <a:endParaRPr/>
          </a:p>
        </p:txBody>
      </p:sp>
      <p:sp>
        <p:nvSpPr>
          <p:cNvPr id="151" name="Google Shape;151;p7"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52" name="Google Shape;152;p7" descr="https://www.indiabix.com/_files/images/verbal-reasoning/direction-sense/4-3-intro-3.png"/>
          <p:cNvPicPr preferRelativeResize="0"/>
          <p:nvPr/>
        </p:nvPicPr>
        <p:blipFill rotWithShape="1">
          <a:blip r:embed="rId4">
            <a:alphaModFix/>
          </a:blip>
          <a:srcRect/>
          <a:stretch/>
        </p:blipFill>
        <p:spPr>
          <a:xfrm>
            <a:off x="1828800" y="2628900"/>
            <a:ext cx="4341495" cy="1192530"/>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8"/>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158" name="Google Shape;158;p8"/>
          <p:cNvSpPr txBox="1">
            <a:spLocks noGrp="1"/>
          </p:cNvSpPr>
          <p:nvPr>
            <p:ph type="title"/>
          </p:nvPr>
        </p:nvSpPr>
        <p:spPr>
          <a:xfrm>
            <a:off x="762000" y="228865"/>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2:</a:t>
            </a:r>
            <a:r>
              <a:rPr lang="en-GB" sz="2800"/>
              <a:t/>
            </a:r>
            <a:br>
              <a:rPr lang="en-GB" sz="2800"/>
            </a:br>
            <a:r>
              <a:rPr lang="en-GB" sz="2400"/>
              <a:t>Suresh starting from his house, goes 4 km in the East, then he turns to his right and goes 3 km. What minimum distance will be covered by him to come back to his house?</a:t>
            </a:r>
            <a:endParaRPr sz="2800"/>
          </a:p>
        </p:txBody>
      </p:sp>
      <p:sp>
        <p:nvSpPr>
          <p:cNvPr id="159" name="Google Shape;159;p8"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9"/>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165" name="Google Shape;165;p9"/>
          <p:cNvSpPr txBox="1">
            <a:spLocks noGrp="1"/>
          </p:cNvSpPr>
          <p:nvPr>
            <p:ph type="title"/>
          </p:nvPr>
        </p:nvSpPr>
        <p:spPr>
          <a:xfrm>
            <a:off x="762000" y="228865"/>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2:</a:t>
            </a:r>
            <a:r>
              <a:rPr lang="en-GB" sz="2800"/>
              <a:t/>
            </a:r>
            <a:br>
              <a:rPr lang="en-GB" sz="2800"/>
            </a:br>
            <a:r>
              <a:rPr lang="en-GB" sz="2400"/>
              <a:t>Suresh starting from his house, goes 4 km in the East, then he turns to his right and goes 3 km. What minimum distance will be covered by him to come back to his house?</a:t>
            </a:r>
            <a:endParaRPr sz="2800"/>
          </a:p>
        </p:txBody>
      </p:sp>
      <p:sp>
        <p:nvSpPr>
          <p:cNvPr id="166" name="Google Shape;166;p9"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67" name="Google Shape;167;p9" descr="https://www.indiabix.com/_files/images/verbal-reasoning/direction-sense/4-3-intro-4.png"/>
          <p:cNvPicPr preferRelativeResize="0"/>
          <p:nvPr/>
        </p:nvPicPr>
        <p:blipFill rotWithShape="1">
          <a:blip r:embed="rId4">
            <a:alphaModFix/>
          </a:blip>
          <a:srcRect/>
          <a:stretch/>
        </p:blipFill>
        <p:spPr>
          <a:xfrm>
            <a:off x="2209800" y="2476500"/>
            <a:ext cx="3832225" cy="2799080"/>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10"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173" name="Google Shape;173;p10"/>
          <p:cNvSpPr txBox="1">
            <a:spLocks noGrp="1"/>
          </p:cNvSpPr>
          <p:nvPr>
            <p:ph type="title"/>
          </p:nvPr>
        </p:nvSpPr>
        <p:spPr>
          <a:xfrm>
            <a:off x="457200" y="723900"/>
            <a:ext cx="8229600" cy="160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Reena walked from A to B in the East 10 feet. Then she turned to the right and walked 3 feet. Again she turned to the right and walked 14 feet. How far is she from A?</a:t>
            </a:r>
            <a:br>
              <a:rPr lang="en-GB" sz="2400"/>
            </a:br>
            <a:r>
              <a:rPr lang="en-GB" sz="2400"/>
              <a:t> a) 4 feet b) 5 feet c) 24 feet d) 27 feet</a:t>
            </a:r>
            <a:endParaRPr sz="24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11"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179" name="Google Shape;179;p11"/>
          <p:cNvSpPr txBox="1">
            <a:spLocks noGrp="1"/>
          </p:cNvSpPr>
          <p:nvPr>
            <p:ph type="title"/>
          </p:nvPr>
        </p:nvSpPr>
        <p:spPr>
          <a:xfrm>
            <a:off x="457200" y="723900"/>
            <a:ext cx="8229600" cy="160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Reena walked from A to B in the East 10 feet. Then she turned to the right and walked 3 feet. Again she turned to the right and walked 14 feet. How far is she from A?</a:t>
            </a:r>
            <a:br>
              <a:rPr lang="en-GB" sz="2400"/>
            </a:br>
            <a:r>
              <a:rPr lang="en-GB" sz="2400"/>
              <a:t> a) 4 feet </a:t>
            </a:r>
            <a:r>
              <a:rPr lang="en-GB" sz="2400">
                <a:solidFill>
                  <a:srgbClr val="FF0000"/>
                </a:solidFill>
              </a:rPr>
              <a:t>b) 5 feet </a:t>
            </a:r>
            <a:r>
              <a:rPr lang="en-GB" sz="2400"/>
              <a:t>c) 24 feet d) 27 feet</a:t>
            </a:r>
            <a:endParaRPr sz="2400"/>
          </a:p>
        </p:txBody>
      </p:sp>
      <p:pic>
        <p:nvPicPr>
          <p:cNvPr id="180" name="Google Shape;180;p11" descr="https://www.indiabix.com/_files/images/verbal-reasoning/direction-sense/4-3-1-19.png"/>
          <p:cNvPicPr preferRelativeResize="0"/>
          <p:nvPr/>
        </p:nvPicPr>
        <p:blipFill rotWithShape="1">
          <a:blip r:embed="rId4">
            <a:alphaModFix/>
          </a:blip>
          <a:srcRect/>
          <a:stretch/>
        </p:blipFill>
        <p:spPr>
          <a:xfrm>
            <a:off x="1981200" y="2246585"/>
            <a:ext cx="3505200" cy="3201715"/>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12"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186" name="Google Shape;186;p12"/>
          <p:cNvSpPr txBox="1">
            <a:spLocks noGrp="1"/>
          </p:cNvSpPr>
          <p:nvPr>
            <p:ph type="title"/>
          </p:nvPr>
        </p:nvSpPr>
        <p:spPr>
          <a:xfrm>
            <a:off x="533400" y="723900"/>
            <a:ext cx="8229600" cy="4267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800"/>
              <a:buFont typeface="Calibri"/>
              <a:buNone/>
            </a:pPr>
            <a:r>
              <a:rPr lang="en-GB" sz="2800"/>
              <a:t>A man walks 5 km toward south and then turns to the right. After walking 3 km he turns to the left and walks 5 km. Now in which direction is he from the starting place?</a:t>
            </a:r>
            <a:r>
              <a:rPr lang="en-GB" sz="3200"/>
              <a:t/>
            </a:r>
            <a:br>
              <a:rPr lang="en-GB" sz="3200"/>
            </a:br>
            <a:r>
              <a:rPr lang="en-GB" sz="3200"/>
              <a:t>a)West b)South  c)North-East  d)South-West</a:t>
            </a:r>
            <a:br>
              <a:rPr lang="en-GB" sz="3200"/>
            </a:br>
            <a:endParaRPr sz="32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13"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192" name="Google Shape;192;p13"/>
          <p:cNvSpPr txBox="1">
            <a:spLocks noGrp="1"/>
          </p:cNvSpPr>
          <p:nvPr>
            <p:ph type="title"/>
          </p:nvPr>
        </p:nvSpPr>
        <p:spPr>
          <a:xfrm>
            <a:off x="533400" y="723900"/>
            <a:ext cx="8229600" cy="171423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600"/>
              <a:buFont typeface="Calibri"/>
              <a:buNone/>
            </a:pPr>
            <a:r>
              <a:rPr lang="en-GB" sz="2600"/>
              <a:t>A man walks 5 km toward south and then turns to the right. After walking 3 km he turns to the left and walks 5 km. Now in which direction is he from the starting place?</a:t>
            </a:r>
            <a:br>
              <a:rPr lang="en-GB" sz="2600"/>
            </a:br>
            <a:r>
              <a:rPr lang="en-GB" sz="2600"/>
              <a:t> a)West b)South  c)North-East  </a:t>
            </a:r>
            <a:r>
              <a:rPr lang="en-GB" sz="2600">
                <a:solidFill>
                  <a:srgbClr val="FF0000"/>
                </a:solidFill>
              </a:rPr>
              <a:t>d)South-West</a:t>
            </a:r>
            <a:endParaRPr sz="2600">
              <a:solidFill>
                <a:srgbClr val="FF0000"/>
              </a:solidFill>
            </a:endParaRPr>
          </a:p>
        </p:txBody>
      </p:sp>
      <p:sp>
        <p:nvSpPr>
          <p:cNvPr id="193" name="Google Shape;193;p13"/>
          <p:cNvSpPr txBox="1">
            <a:spLocks noGrp="1"/>
          </p:cNvSpPr>
          <p:nvPr>
            <p:ph type="body" idx="1"/>
          </p:nvPr>
        </p:nvSpPr>
        <p:spPr>
          <a:xfrm>
            <a:off x="533400" y="4381500"/>
            <a:ext cx="8229600" cy="95223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GB"/>
              <a:t>Hence required </a:t>
            </a:r>
            <a:r>
              <a:rPr lang="en-GB" sz="2800"/>
              <a:t>direction</a:t>
            </a:r>
            <a:r>
              <a:rPr lang="en-GB"/>
              <a:t> is South-West.</a:t>
            </a:r>
            <a:endParaRPr/>
          </a:p>
        </p:txBody>
      </p:sp>
      <p:pic>
        <p:nvPicPr>
          <p:cNvPr id="194" name="Google Shape;194;p13" descr="https://www.indiabix.com/_files/images/verbal-reasoning/direction-sense/4-3-1-20.png"/>
          <p:cNvPicPr preferRelativeResize="0"/>
          <p:nvPr/>
        </p:nvPicPr>
        <p:blipFill rotWithShape="1">
          <a:blip r:embed="rId4">
            <a:alphaModFix/>
          </a:blip>
          <a:srcRect/>
          <a:stretch/>
        </p:blipFill>
        <p:spPr>
          <a:xfrm>
            <a:off x="3048000" y="2400300"/>
            <a:ext cx="1676400" cy="1988950"/>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14"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200" name="Google Shape;200;p14"/>
          <p:cNvSpPr txBox="1">
            <a:spLocks noGrp="1"/>
          </p:cNvSpPr>
          <p:nvPr>
            <p:ph type="title"/>
          </p:nvPr>
        </p:nvSpPr>
        <p:spPr>
          <a:xfrm>
            <a:off x="457200" y="419100"/>
            <a:ext cx="8229600" cy="171423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200"/>
              <a:buFont typeface="Calibri"/>
              <a:buNone/>
            </a:pPr>
            <a:r>
              <a:rPr lang="en-GB" sz="3200"/>
              <a:t/>
            </a:r>
            <a:br>
              <a:rPr lang="en-GB" sz="3200"/>
            </a:br>
            <a:r>
              <a:rPr lang="en-GB" sz="2800"/>
              <a:t>Mani walks 2 km towards North. Then he turns to East and walks 10 km. After this he turns to North and walks 3 km. Again he turns towards East and walks 2 km. How far is he from the starting point?</a:t>
            </a:r>
            <a:br>
              <a:rPr lang="en-GB" sz="2800"/>
            </a:br>
            <a:r>
              <a:rPr lang="en-GB" sz="2800"/>
              <a:t>a) 14 km	b) 13 km	c) 15 km	d) 10 km</a:t>
            </a:r>
            <a:endParaRPr sz="32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15"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206" name="Google Shape;206;p15"/>
          <p:cNvSpPr txBox="1">
            <a:spLocks noGrp="1"/>
          </p:cNvSpPr>
          <p:nvPr>
            <p:ph type="title"/>
          </p:nvPr>
        </p:nvSpPr>
        <p:spPr>
          <a:xfrm>
            <a:off x="533400" y="266700"/>
            <a:ext cx="8229600" cy="171423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200"/>
              <a:buFont typeface="Calibri"/>
              <a:buNone/>
            </a:pPr>
            <a:r>
              <a:rPr lang="en-GB" sz="3200"/>
              <a:t/>
            </a:r>
            <a:br>
              <a:rPr lang="en-GB" sz="3200"/>
            </a:br>
            <a:r>
              <a:rPr lang="en-GB" sz="2600"/>
              <a:t>Mani walks 2 km towards North. Then he turns to East and walks 10 km. After this he turns to North and walks 3 km. Again he turns towards East and walks 2 km. How far is he from the starting point?</a:t>
            </a:r>
            <a:br>
              <a:rPr lang="en-GB" sz="2600"/>
            </a:br>
            <a:r>
              <a:rPr lang="en-GB" sz="2600"/>
              <a:t> a) 14 km	</a:t>
            </a:r>
            <a:r>
              <a:rPr lang="en-GB" sz="2600">
                <a:solidFill>
                  <a:srgbClr val="FF0000"/>
                </a:solidFill>
              </a:rPr>
              <a:t>b) 13 km</a:t>
            </a:r>
            <a:r>
              <a:rPr lang="en-GB" sz="2600"/>
              <a:t>	c) 15 km	d) 10 km</a:t>
            </a:r>
            <a:endParaRPr sz="2600"/>
          </a:p>
        </p:txBody>
      </p:sp>
      <p:pic>
        <p:nvPicPr>
          <p:cNvPr id="207" name="Google Shape;207;p15" descr="https://www.indiabix.com/_files/images/verbal-reasoning/direction-sense/4-3-1-17.png"/>
          <p:cNvPicPr preferRelativeResize="0"/>
          <p:nvPr/>
        </p:nvPicPr>
        <p:blipFill rotWithShape="1">
          <a:blip r:embed="rId4">
            <a:alphaModFix/>
          </a:blip>
          <a:srcRect/>
          <a:stretch/>
        </p:blipFill>
        <p:spPr>
          <a:xfrm>
            <a:off x="2590800" y="2400299"/>
            <a:ext cx="3733800" cy="3119377"/>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16"/>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213" name="Google Shape;213;p16"/>
          <p:cNvSpPr txBox="1">
            <a:spLocks noGrp="1"/>
          </p:cNvSpPr>
          <p:nvPr>
            <p:ph type="title"/>
          </p:nvPr>
        </p:nvSpPr>
        <p:spPr>
          <a:xfrm>
            <a:off x="762000" y="228865"/>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3 :</a:t>
            </a:r>
            <a:r>
              <a:rPr lang="en-GB" sz="2800"/>
              <a:t/>
            </a:r>
            <a:br>
              <a:rPr lang="en-GB" sz="2800"/>
            </a:br>
            <a:r>
              <a:rPr lang="en-GB" sz="2400"/>
              <a:t>A man is facing north-west. He turns 90 degrees  in the clockwise direction, then 180 degrees  in the anticlockwise direction and then another 90degrees  in the same direction. Which direction is he facing now?</a:t>
            </a:r>
            <a:br>
              <a:rPr lang="en-GB" sz="2400"/>
            </a:br>
            <a:endParaRPr sz="2800"/>
          </a:p>
        </p:txBody>
      </p:sp>
      <p:sp>
        <p:nvSpPr>
          <p:cNvPr id="214" name="Google Shape;214;p16"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7"/>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220" name="Google Shape;220;p17"/>
          <p:cNvSpPr txBox="1">
            <a:spLocks noGrp="1"/>
          </p:cNvSpPr>
          <p:nvPr>
            <p:ph type="title"/>
          </p:nvPr>
        </p:nvSpPr>
        <p:spPr>
          <a:xfrm>
            <a:off x="762000" y="647700"/>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3 :</a:t>
            </a:r>
            <a:r>
              <a:rPr lang="en-GB" sz="2800"/>
              <a:t/>
            </a:r>
            <a:br>
              <a:rPr lang="en-GB" sz="2800"/>
            </a:br>
            <a:r>
              <a:rPr lang="en-GB" sz="2400"/>
              <a:t>A man is facing north-west. He turns 90 degrees  in the clockwise direction, then 180 degrees  in the anticlockwise direction and then another 90degrees  in the same direction. Which direction is he facing now?</a:t>
            </a:r>
            <a:br>
              <a:rPr lang="en-GB" sz="2400"/>
            </a:br>
            <a:r>
              <a:rPr lang="en-GB" sz="2400"/>
              <a:t/>
            </a:r>
            <a:br>
              <a:rPr lang="en-GB" sz="2400"/>
            </a:br>
            <a:r>
              <a:rPr lang="en-GB" sz="2400"/>
              <a:t>Ans: South-East</a:t>
            </a:r>
            <a:br>
              <a:rPr lang="en-GB" sz="2400"/>
            </a:br>
            <a:endParaRPr sz="2800"/>
          </a:p>
        </p:txBody>
      </p:sp>
      <p:sp>
        <p:nvSpPr>
          <p:cNvPr id="221" name="Google Shape;221;p17"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2" name="Google Shape;222;p17"/>
          <p:cNvPicPr preferRelativeResize="0"/>
          <p:nvPr/>
        </p:nvPicPr>
        <p:blipFill rotWithShape="1">
          <a:blip r:embed="rId4">
            <a:alphaModFix/>
          </a:blip>
          <a:srcRect/>
          <a:stretch/>
        </p:blipFill>
        <p:spPr>
          <a:xfrm>
            <a:off x="2133600" y="3009900"/>
            <a:ext cx="3181350" cy="2000250"/>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18"/>
          <p:cNvPicPr preferRelativeResize="0"/>
          <p:nvPr/>
        </p:nvPicPr>
        <p:blipFill rotWithShape="1">
          <a:blip r:embed="rId3">
            <a:alphaModFix/>
          </a:blip>
          <a:srcRect/>
          <a:stretch/>
        </p:blipFill>
        <p:spPr>
          <a:xfrm>
            <a:off x="0" y="0"/>
            <a:ext cx="9144000" cy="5715000"/>
          </a:xfrm>
          <a:prstGeom prst="rect">
            <a:avLst/>
          </a:prstGeom>
          <a:noFill/>
          <a:ln>
            <a:noFill/>
          </a:ln>
        </p:spPr>
      </p:pic>
      <p:pic>
        <p:nvPicPr>
          <p:cNvPr id="228" name="Google Shape;228;p18" descr="Photo PowerPoint Background90411169"/>
          <p:cNvPicPr preferRelativeResize="0"/>
          <p:nvPr/>
        </p:nvPicPr>
        <p:blipFill rotWithShape="1">
          <a:blip r:embed="rId4">
            <a:alphaModFix/>
          </a:blip>
          <a:srcRect/>
          <a:stretch/>
        </p:blipFill>
        <p:spPr>
          <a:xfrm>
            <a:off x="-152399" y="-190500"/>
            <a:ext cx="9448800" cy="6096000"/>
          </a:xfrm>
          <a:prstGeom prst="rect">
            <a:avLst/>
          </a:prstGeom>
          <a:noFill/>
          <a:ln>
            <a:noFill/>
          </a:ln>
        </p:spPr>
      </p:pic>
      <p:sp>
        <p:nvSpPr>
          <p:cNvPr id="229" name="Google Shape;229;p18"/>
          <p:cNvSpPr txBox="1">
            <a:spLocks noGrp="1"/>
          </p:cNvSpPr>
          <p:nvPr>
            <p:ph type="title"/>
          </p:nvPr>
        </p:nvSpPr>
        <p:spPr>
          <a:xfrm>
            <a:off x="838200" y="800100"/>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800"/>
              <a:buFont typeface="Calibri"/>
              <a:buNone/>
            </a:pPr>
            <a:r>
              <a:rPr lang="en-GB" sz="2800"/>
              <a:t>A man is facing towards the west and turns through 45° clockwise, again 180° clockwise and then turns through 270° anti-clockwise. In which direction is he facing now?</a:t>
            </a:r>
            <a:br>
              <a:rPr lang="en-GB" sz="2800"/>
            </a:br>
            <a:r>
              <a:rPr lang="en-GB" sz="2800"/>
              <a:t>a)South-west b)North-west c)west d)South</a:t>
            </a:r>
            <a:endParaRPr sz="2800"/>
          </a:p>
        </p:txBody>
      </p:sp>
      <p:sp>
        <p:nvSpPr>
          <p:cNvPr id="230" name="Google Shape;230;p18"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19"/>
          <p:cNvPicPr preferRelativeResize="0"/>
          <p:nvPr/>
        </p:nvPicPr>
        <p:blipFill rotWithShape="1">
          <a:blip r:embed="rId3">
            <a:alphaModFix/>
          </a:blip>
          <a:srcRect/>
          <a:stretch/>
        </p:blipFill>
        <p:spPr>
          <a:xfrm>
            <a:off x="0" y="0"/>
            <a:ext cx="9144000" cy="5715000"/>
          </a:xfrm>
          <a:prstGeom prst="rect">
            <a:avLst/>
          </a:prstGeom>
          <a:noFill/>
          <a:ln>
            <a:noFill/>
          </a:ln>
        </p:spPr>
      </p:pic>
      <p:pic>
        <p:nvPicPr>
          <p:cNvPr id="236" name="Google Shape;236;p19" descr="Photo PowerPoint Background90411169"/>
          <p:cNvPicPr preferRelativeResize="0"/>
          <p:nvPr/>
        </p:nvPicPr>
        <p:blipFill rotWithShape="1">
          <a:blip r:embed="rId4">
            <a:alphaModFix/>
          </a:blip>
          <a:srcRect/>
          <a:stretch/>
        </p:blipFill>
        <p:spPr>
          <a:xfrm>
            <a:off x="-152399" y="-190500"/>
            <a:ext cx="9448800" cy="6096000"/>
          </a:xfrm>
          <a:prstGeom prst="rect">
            <a:avLst/>
          </a:prstGeom>
          <a:noFill/>
          <a:ln>
            <a:noFill/>
          </a:ln>
        </p:spPr>
      </p:pic>
      <p:sp>
        <p:nvSpPr>
          <p:cNvPr id="237" name="Google Shape;237;p19"/>
          <p:cNvSpPr txBox="1">
            <a:spLocks noGrp="1"/>
          </p:cNvSpPr>
          <p:nvPr>
            <p:ph type="title"/>
          </p:nvPr>
        </p:nvSpPr>
        <p:spPr>
          <a:xfrm>
            <a:off x="838200" y="800100"/>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800"/>
              <a:buFont typeface="Calibri"/>
              <a:buNone/>
            </a:pPr>
            <a:r>
              <a:rPr lang="en-GB" sz="2800"/>
              <a:t>A man is facing towards the west and turns through 45° clockwise, again 180° clockwise and then turns through 270° anti-clockwise. In which direction is he facing now?</a:t>
            </a:r>
            <a:br>
              <a:rPr lang="en-GB" sz="2800"/>
            </a:br>
            <a:r>
              <a:rPr lang="en-GB" sz="2800">
                <a:solidFill>
                  <a:srgbClr val="FF0000"/>
                </a:solidFill>
              </a:rPr>
              <a:t>a)South-west  </a:t>
            </a:r>
            <a:r>
              <a:rPr lang="en-GB" sz="2800"/>
              <a:t> b)North-west   c)west      d)South</a:t>
            </a:r>
            <a:endParaRPr sz="2800"/>
          </a:p>
        </p:txBody>
      </p:sp>
      <p:sp>
        <p:nvSpPr>
          <p:cNvPr id="238" name="Google Shape;238;p19"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20"/>
          <p:cNvPicPr preferRelativeResize="0"/>
          <p:nvPr/>
        </p:nvPicPr>
        <p:blipFill rotWithShape="1">
          <a:blip r:embed="rId3">
            <a:alphaModFix/>
          </a:blip>
          <a:srcRect/>
          <a:stretch/>
        </p:blipFill>
        <p:spPr>
          <a:xfrm>
            <a:off x="0" y="0"/>
            <a:ext cx="9144000" cy="5715000"/>
          </a:xfrm>
          <a:prstGeom prst="rect">
            <a:avLst/>
          </a:prstGeom>
          <a:noFill/>
          <a:ln>
            <a:noFill/>
          </a:ln>
        </p:spPr>
      </p:pic>
      <p:pic>
        <p:nvPicPr>
          <p:cNvPr id="244" name="Google Shape;244;p20" descr="Photo PowerPoint Background90411169"/>
          <p:cNvPicPr preferRelativeResize="0"/>
          <p:nvPr/>
        </p:nvPicPr>
        <p:blipFill rotWithShape="1">
          <a:blip r:embed="rId4">
            <a:alphaModFix/>
          </a:blip>
          <a:srcRect/>
          <a:stretch/>
        </p:blipFill>
        <p:spPr>
          <a:xfrm>
            <a:off x="-152399" y="-190500"/>
            <a:ext cx="9448800" cy="6096000"/>
          </a:xfrm>
          <a:prstGeom prst="rect">
            <a:avLst/>
          </a:prstGeom>
          <a:noFill/>
          <a:ln>
            <a:noFill/>
          </a:ln>
        </p:spPr>
      </p:pic>
      <p:sp>
        <p:nvSpPr>
          <p:cNvPr id="245" name="Google Shape;245;p20"/>
          <p:cNvSpPr txBox="1">
            <a:spLocks noGrp="1"/>
          </p:cNvSpPr>
          <p:nvPr>
            <p:ph type="title"/>
          </p:nvPr>
        </p:nvSpPr>
        <p:spPr>
          <a:xfrm>
            <a:off x="685800" y="723900"/>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800"/>
              <a:buFont typeface="Calibri"/>
              <a:buNone/>
            </a:pPr>
            <a:r>
              <a:rPr lang="en-GB" sz="2800"/>
              <a:t/>
            </a:r>
            <a:br>
              <a:rPr lang="en-GB" sz="2800"/>
            </a:br>
            <a:r>
              <a:rPr lang="en-GB" sz="2800"/>
              <a:t>A girl facing north rotates 100(degree) clockwise then 190(degree) anticlockwise. what is new direction of the girl ?</a:t>
            </a:r>
            <a:br>
              <a:rPr lang="en-GB" sz="2800"/>
            </a:br>
            <a:r>
              <a:rPr lang="en-GB" sz="2800"/>
              <a:t> a) North-East    b) West    c) South-East       d) South </a:t>
            </a:r>
            <a:r>
              <a:rPr lang="en-GB" sz="2400"/>
              <a:t/>
            </a:r>
            <a:br>
              <a:rPr lang="en-GB" sz="2400"/>
            </a:br>
            <a:endParaRPr sz="2800"/>
          </a:p>
        </p:txBody>
      </p:sp>
      <p:sp>
        <p:nvSpPr>
          <p:cNvPr id="246" name="Google Shape;246;p20"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21"/>
          <p:cNvPicPr preferRelativeResize="0"/>
          <p:nvPr/>
        </p:nvPicPr>
        <p:blipFill rotWithShape="1">
          <a:blip r:embed="rId3">
            <a:alphaModFix/>
          </a:blip>
          <a:srcRect/>
          <a:stretch/>
        </p:blipFill>
        <p:spPr>
          <a:xfrm>
            <a:off x="0" y="0"/>
            <a:ext cx="9144000" cy="5715000"/>
          </a:xfrm>
          <a:prstGeom prst="rect">
            <a:avLst/>
          </a:prstGeom>
          <a:noFill/>
          <a:ln>
            <a:noFill/>
          </a:ln>
        </p:spPr>
      </p:pic>
      <p:pic>
        <p:nvPicPr>
          <p:cNvPr id="252" name="Google Shape;252;p21" descr="Photo PowerPoint Background90411169"/>
          <p:cNvPicPr preferRelativeResize="0"/>
          <p:nvPr/>
        </p:nvPicPr>
        <p:blipFill rotWithShape="1">
          <a:blip r:embed="rId4">
            <a:alphaModFix/>
          </a:blip>
          <a:srcRect/>
          <a:stretch/>
        </p:blipFill>
        <p:spPr>
          <a:xfrm>
            <a:off x="-152399" y="-190500"/>
            <a:ext cx="9448800" cy="6096000"/>
          </a:xfrm>
          <a:prstGeom prst="rect">
            <a:avLst/>
          </a:prstGeom>
          <a:noFill/>
          <a:ln>
            <a:noFill/>
          </a:ln>
        </p:spPr>
      </p:pic>
      <p:sp>
        <p:nvSpPr>
          <p:cNvPr id="253" name="Google Shape;253;p21"/>
          <p:cNvSpPr txBox="1">
            <a:spLocks noGrp="1"/>
          </p:cNvSpPr>
          <p:nvPr>
            <p:ph type="title"/>
          </p:nvPr>
        </p:nvSpPr>
        <p:spPr>
          <a:xfrm>
            <a:off x="762000" y="876300"/>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800"/>
              <a:buFont typeface="Calibri"/>
              <a:buNone/>
            </a:pPr>
            <a:r>
              <a:rPr lang="en-GB" sz="2800"/>
              <a:t/>
            </a:r>
            <a:br>
              <a:rPr lang="en-GB" sz="2800"/>
            </a:br>
            <a:r>
              <a:rPr lang="en-GB" sz="2800"/>
              <a:t>A girl facing north rotates 100(degree) clockwise then 190(degree) anticlockwise. what is new direction of the girl ?</a:t>
            </a:r>
            <a:br>
              <a:rPr lang="en-GB" sz="2800"/>
            </a:br>
            <a:r>
              <a:rPr lang="en-GB" sz="2800"/>
              <a:t> a) North-East   </a:t>
            </a:r>
            <a:r>
              <a:rPr lang="en-GB" sz="2800">
                <a:solidFill>
                  <a:srgbClr val="FF0000"/>
                </a:solidFill>
              </a:rPr>
              <a:t> b) West    </a:t>
            </a:r>
            <a:r>
              <a:rPr lang="en-GB" sz="2800"/>
              <a:t>c) South-East       d) South </a:t>
            </a:r>
            <a:r>
              <a:rPr lang="en-GB" sz="2400"/>
              <a:t/>
            </a:r>
            <a:br>
              <a:rPr lang="en-GB" sz="2400"/>
            </a:br>
            <a:endParaRPr sz="2800"/>
          </a:p>
        </p:txBody>
      </p:sp>
      <p:sp>
        <p:nvSpPr>
          <p:cNvPr id="254" name="Google Shape;254;p21"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22"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260" name="Google Shape;260;p22"/>
          <p:cNvSpPr txBox="1">
            <a:spLocks noGrp="1"/>
          </p:cNvSpPr>
          <p:nvPr>
            <p:ph type="title"/>
          </p:nvPr>
        </p:nvSpPr>
        <p:spPr>
          <a:xfrm>
            <a:off x="457200" y="723900"/>
            <a:ext cx="8229600" cy="2286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P started from his house towards west. After walking a distance of 25 m. He turned to the right and walked 10 m. He then again turned to the right and walked 15 m. After this he is to turn right at 135</a:t>
            </a:r>
            <a:r>
              <a:rPr lang="en-GB" sz="2400" baseline="30000"/>
              <a:t>o</a:t>
            </a:r>
            <a:r>
              <a:rPr lang="en-GB" sz="2400"/>
              <a:t> and to cover 30 m. In which direction should he go?</a:t>
            </a:r>
            <a:br>
              <a:rPr lang="en-GB" sz="2400"/>
            </a:br>
            <a:r>
              <a:rPr lang="en-GB" sz="2400"/>
              <a:t>a) West	b) South	c) South-West	        d) South-East</a:t>
            </a:r>
            <a:br>
              <a:rPr lang="en-GB" sz="2400"/>
            </a:br>
            <a:endParaRPr sz="32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23"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266" name="Google Shape;266;p23"/>
          <p:cNvSpPr txBox="1">
            <a:spLocks noGrp="1"/>
          </p:cNvSpPr>
          <p:nvPr>
            <p:ph type="title"/>
          </p:nvPr>
        </p:nvSpPr>
        <p:spPr>
          <a:xfrm>
            <a:off x="457200" y="571500"/>
            <a:ext cx="8229600" cy="175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P started from his house towards west. After walking a distance of 25 m. He turned to the right and walked 10 m. He then again turned to the right and walked 15 m. After this he is to turn right at 135</a:t>
            </a:r>
            <a:r>
              <a:rPr lang="en-GB" sz="2400" baseline="30000"/>
              <a:t>o</a:t>
            </a:r>
            <a:r>
              <a:rPr lang="en-GB" sz="2400"/>
              <a:t> and to cover 30 m. In which direction should he go?</a:t>
            </a:r>
            <a:br>
              <a:rPr lang="en-GB" sz="2400"/>
            </a:br>
            <a:r>
              <a:rPr lang="en-GB" sz="2400">
                <a:solidFill>
                  <a:srgbClr val="000000"/>
                </a:solidFill>
              </a:rPr>
              <a:t> a) West	b) South	</a:t>
            </a:r>
            <a:r>
              <a:rPr lang="en-GB" sz="2400">
                <a:solidFill>
                  <a:srgbClr val="FF0000"/>
                </a:solidFill>
              </a:rPr>
              <a:t>c) South-West	 </a:t>
            </a:r>
            <a:r>
              <a:rPr lang="en-GB" sz="2400">
                <a:solidFill>
                  <a:srgbClr val="000000"/>
                </a:solidFill>
              </a:rPr>
              <a:t>       d) South-East</a:t>
            </a:r>
            <a:endParaRPr sz="3200"/>
          </a:p>
        </p:txBody>
      </p:sp>
      <p:sp>
        <p:nvSpPr>
          <p:cNvPr id="267" name="Google Shape;267;p23"/>
          <p:cNvSpPr txBox="1">
            <a:spLocks noGrp="1"/>
          </p:cNvSpPr>
          <p:nvPr>
            <p:ph type="body" idx="1"/>
          </p:nvPr>
        </p:nvSpPr>
        <p:spPr>
          <a:xfrm>
            <a:off x="533400" y="4381500"/>
            <a:ext cx="8229600" cy="95223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None/>
            </a:pPr>
            <a:r>
              <a:rPr lang="en-GB" sz="2400"/>
              <a:t>Hence he should go in the South-West direction.</a:t>
            </a:r>
            <a:endParaRPr sz="2400"/>
          </a:p>
        </p:txBody>
      </p:sp>
      <p:pic>
        <p:nvPicPr>
          <p:cNvPr id="268" name="Google Shape;268;p23" descr="https://www.indiabix.com/_files/images/verbal-reasoning/direction-sense/4-3-1-10.png"/>
          <p:cNvPicPr preferRelativeResize="0"/>
          <p:nvPr/>
        </p:nvPicPr>
        <p:blipFill rotWithShape="1">
          <a:blip r:embed="rId4">
            <a:alphaModFix/>
          </a:blip>
          <a:srcRect/>
          <a:stretch/>
        </p:blipFill>
        <p:spPr>
          <a:xfrm>
            <a:off x="2590800" y="2476500"/>
            <a:ext cx="2620798" cy="1828800"/>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24"/>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274" name="Google Shape;274;p24"/>
          <p:cNvSpPr txBox="1">
            <a:spLocks noGrp="1"/>
          </p:cNvSpPr>
          <p:nvPr>
            <p:ph type="title"/>
          </p:nvPr>
        </p:nvSpPr>
        <p:spPr>
          <a:xfrm>
            <a:off x="762000" y="228865"/>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4 :</a:t>
            </a:r>
            <a:r>
              <a:rPr lang="en-GB" sz="2800"/>
              <a:t/>
            </a:r>
            <a:br>
              <a:rPr lang="en-GB" sz="2800"/>
            </a:br>
            <a:r>
              <a:rPr lang="en-GB" sz="2400"/>
              <a:t>If South-East becomes North, North-East becomes West and so on. What will West become?</a:t>
            </a:r>
            <a:br>
              <a:rPr lang="en-GB" sz="2400"/>
            </a:br>
            <a:endParaRPr sz="2800"/>
          </a:p>
        </p:txBody>
      </p:sp>
      <p:sp>
        <p:nvSpPr>
          <p:cNvPr id="275" name="Google Shape;275;p24"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p25"/>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281" name="Google Shape;281;p25"/>
          <p:cNvSpPr txBox="1">
            <a:spLocks noGrp="1"/>
          </p:cNvSpPr>
          <p:nvPr>
            <p:ph type="title"/>
          </p:nvPr>
        </p:nvSpPr>
        <p:spPr>
          <a:xfrm>
            <a:off x="762000" y="228865"/>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4 :</a:t>
            </a:r>
            <a:r>
              <a:rPr lang="en-GB" sz="2800"/>
              <a:t/>
            </a:r>
            <a:br>
              <a:rPr lang="en-GB" sz="2800"/>
            </a:br>
            <a:r>
              <a:rPr lang="en-GB" sz="2400"/>
              <a:t>If South-East becomes North, North-East becomes West and so on. What will West become?</a:t>
            </a:r>
            <a:br>
              <a:rPr lang="en-GB" sz="2400"/>
            </a:br>
            <a:endParaRPr sz="2800"/>
          </a:p>
        </p:txBody>
      </p:sp>
      <p:sp>
        <p:nvSpPr>
          <p:cNvPr id="282" name="Google Shape;282;p25"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3" name="Google Shape;283;p25"/>
          <p:cNvPicPr preferRelativeResize="0"/>
          <p:nvPr/>
        </p:nvPicPr>
        <p:blipFill rotWithShape="1">
          <a:blip r:embed="rId4">
            <a:alphaModFix/>
          </a:blip>
          <a:srcRect/>
          <a:stretch/>
        </p:blipFill>
        <p:spPr>
          <a:xfrm>
            <a:off x="1143000" y="2552700"/>
            <a:ext cx="5791200" cy="2085975"/>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p26"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289" name="Google Shape;289;p26"/>
          <p:cNvSpPr txBox="1">
            <a:spLocks noGrp="1"/>
          </p:cNvSpPr>
          <p:nvPr>
            <p:ph type="title"/>
          </p:nvPr>
        </p:nvSpPr>
        <p:spPr>
          <a:xfrm>
            <a:off x="457200" y="11811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200"/>
              <a:buFont typeface="Calibri"/>
              <a:buNone/>
            </a:pPr>
            <a:r>
              <a:rPr lang="en-GB" sz="3200"/>
              <a:t>A compass was damaged and its needle turned in such a manner that the pointer, which was showing East, now showed north. One person went towards west as per the above mentioned compass. In which direction did he actually go?</a:t>
            </a:r>
            <a:br>
              <a:rPr lang="en-GB" sz="3200"/>
            </a:br>
            <a:r>
              <a:rPr lang="en-GB" sz="3200"/>
              <a:t> a) North b) South c) South-west d) North- east</a:t>
            </a:r>
            <a:endParaRPr sz="320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27"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295" name="Google Shape;295;p27"/>
          <p:cNvSpPr txBox="1">
            <a:spLocks noGrp="1"/>
          </p:cNvSpPr>
          <p:nvPr>
            <p:ph type="title"/>
          </p:nvPr>
        </p:nvSpPr>
        <p:spPr>
          <a:xfrm>
            <a:off x="457200" y="1181100"/>
            <a:ext cx="8229600" cy="2667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200"/>
              <a:buFont typeface="Calibri"/>
              <a:buNone/>
            </a:pPr>
            <a:r>
              <a:rPr lang="en-GB" sz="3200" dirty="0"/>
              <a:t>A compass was damaged and its needle turned in such a manner that the pointer, which was showing East, now showed north. One person went towards west as per the above mentioned compass. In which direction did he actually go?</a:t>
            </a:r>
            <a:br>
              <a:rPr lang="en-GB" sz="3200" dirty="0"/>
            </a:br>
            <a:r>
              <a:rPr lang="en-GB" sz="3200" dirty="0">
                <a:solidFill>
                  <a:schemeClr val="tx1"/>
                </a:solidFill>
              </a:rPr>
              <a:t> a) North </a:t>
            </a:r>
            <a:r>
              <a:rPr lang="en-GB" sz="3200" dirty="0">
                <a:solidFill>
                  <a:srgbClr val="FF0000"/>
                </a:solidFill>
              </a:rPr>
              <a:t>b) South </a:t>
            </a:r>
            <a:r>
              <a:rPr lang="en-GB" sz="3200" dirty="0"/>
              <a:t>c) South-west d) North- east</a:t>
            </a:r>
            <a:endParaRPr sz="32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28"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01" name="Google Shape;301;p28"/>
          <p:cNvSpPr txBox="1">
            <a:spLocks noGrp="1"/>
          </p:cNvSpPr>
          <p:nvPr>
            <p:ph type="title"/>
          </p:nvPr>
        </p:nvSpPr>
        <p:spPr>
          <a:xfrm>
            <a:off x="457200" y="419100"/>
            <a:ext cx="8229600" cy="2514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200"/>
              <a:buFont typeface="Calibri"/>
              <a:buNone/>
            </a:pPr>
            <a:r>
              <a:rPr lang="en-GB" sz="3200"/>
              <a:t/>
            </a:r>
            <a:br>
              <a:rPr lang="en-GB" sz="3200"/>
            </a:br>
            <a:r>
              <a:rPr lang="en-GB" sz="2800"/>
              <a:t>Rahul put his timepiece on the table in such a way that at 6 P.M. hour hand points to North. In which direction the minute hand will point at 9.15 P.M. ?</a:t>
            </a:r>
            <a:br>
              <a:rPr lang="en-GB" sz="2800"/>
            </a:br>
            <a:r>
              <a:rPr lang="en-GB" sz="2800"/>
              <a:t>a) South-East	b) South	c) North	d) West</a:t>
            </a:r>
            <a:endParaRPr sz="280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306" name="Google Shape;306;p29"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07" name="Google Shape;307;p29"/>
          <p:cNvSpPr txBox="1">
            <a:spLocks noGrp="1"/>
          </p:cNvSpPr>
          <p:nvPr>
            <p:ph type="title"/>
          </p:nvPr>
        </p:nvSpPr>
        <p:spPr>
          <a:xfrm>
            <a:off x="457200" y="419100"/>
            <a:ext cx="8229600" cy="171423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200"/>
              <a:buFont typeface="Calibri"/>
              <a:buNone/>
            </a:pPr>
            <a:r>
              <a:rPr lang="en-GB" sz="3200"/>
              <a:t/>
            </a:r>
            <a:br>
              <a:rPr lang="en-GB" sz="3200"/>
            </a:br>
            <a:r>
              <a:rPr lang="en-GB" sz="2800"/>
              <a:t>Rahul put his timepiece on the table in such a way that at 6 P.M. hour hand points to North. In which direction the minute hand will point at 9.15 P.M. ?</a:t>
            </a:r>
            <a:br>
              <a:rPr lang="en-GB" sz="2800"/>
            </a:br>
            <a:r>
              <a:rPr lang="en-GB" sz="3200"/>
              <a:t> a) South-East	b) South	c) North	</a:t>
            </a:r>
            <a:r>
              <a:rPr lang="en-GB" sz="3200">
                <a:solidFill>
                  <a:srgbClr val="FF0000"/>
                </a:solidFill>
              </a:rPr>
              <a:t>d) West</a:t>
            </a:r>
            <a:endParaRPr sz="3200">
              <a:solidFill>
                <a:srgbClr val="FF0000"/>
              </a:solidFill>
            </a:endParaRPr>
          </a:p>
        </p:txBody>
      </p:sp>
      <p:sp>
        <p:nvSpPr>
          <p:cNvPr id="308" name="Google Shape;308;p29"/>
          <p:cNvSpPr txBox="1">
            <a:spLocks noGrp="1"/>
          </p:cNvSpPr>
          <p:nvPr>
            <p:ph type="body" idx="1"/>
          </p:nvPr>
        </p:nvSpPr>
        <p:spPr>
          <a:xfrm>
            <a:off x="533400" y="4381500"/>
            <a:ext cx="8229600" cy="95223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None/>
            </a:pPr>
            <a:r>
              <a:rPr lang="en-GB" sz="2800"/>
              <a:t>At 9.15 P.M., the minute hand will point towards west.</a:t>
            </a:r>
            <a:endParaRPr sz="2800"/>
          </a:p>
        </p:txBody>
      </p:sp>
      <p:pic>
        <p:nvPicPr>
          <p:cNvPr id="309" name="Google Shape;309;p29" descr="https://www.indiabix.com/_files/images/verbal-reasoning/direction-sense/4-3-1-14.png"/>
          <p:cNvPicPr preferRelativeResize="0"/>
          <p:nvPr/>
        </p:nvPicPr>
        <p:blipFill rotWithShape="1">
          <a:blip r:embed="rId4">
            <a:alphaModFix/>
          </a:blip>
          <a:srcRect/>
          <a:stretch/>
        </p:blipFill>
        <p:spPr>
          <a:xfrm>
            <a:off x="1981200" y="2400300"/>
            <a:ext cx="4512008" cy="1752600"/>
          </a:xfrm>
          <a:prstGeom prst="rect">
            <a:avLst/>
          </a:prstGeom>
          <a:noFill/>
          <a:ln>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4" name="Google Shape;314;p30"/>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315" name="Google Shape;315;p30"/>
          <p:cNvSpPr txBox="1">
            <a:spLocks noGrp="1"/>
          </p:cNvSpPr>
          <p:nvPr>
            <p:ph type="title"/>
          </p:nvPr>
        </p:nvSpPr>
        <p:spPr>
          <a:xfrm>
            <a:off x="685800" y="-190500"/>
            <a:ext cx="7924800" cy="358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5:</a:t>
            </a:r>
            <a:r>
              <a:rPr lang="en-GB" sz="2800"/>
              <a:t/>
            </a:r>
            <a:br>
              <a:rPr lang="en-GB" sz="2800"/>
            </a:br>
            <a:r>
              <a:rPr lang="en-GB" sz="2400"/>
              <a:t>Hema starting from her house walked 5 km to reach the crossing of Palace. In which direction she was going, a road opposite to this direction goes to Hospital. The road to the right goes to station. If the road which goes to station is just opposite to the road which IT-Park, then in which direction to Hema is the road which goes to IT-Park?</a:t>
            </a:r>
            <a:endParaRPr sz="2800"/>
          </a:p>
        </p:txBody>
      </p:sp>
      <p:sp>
        <p:nvSpPr>
          <p:cNvPr id="316" name="Google Shape;316;p30"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321" name="Google Shape;321;p31"/>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322" name="Google Shape;322;p31"/>
          <p:cNvSpPr txBox="1">
            <a:spLocks noGrp="1"/>
          </p:cNvSpPr>
          <p:nvPr>
            <p:ph type="title"/>
          </p:nvPr>
        </p:nvSpPr>
        <p:spPr>
          <a:xfrm>
            <a:off x="685800" y="-190500"/>
            <a:ext cx="7924800" cy="358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5:</a:t>
            </a:r>
            <a:r>
              <a:rPr lang="en-GB" sz="2800"/>
              <a:t/>
            </a:r>
            <a:br>
              <a:rPr lang="en-GB" sz="2800"/>
            </a:br>
            <a:r>
              <a:rPr lang="en-GB" sz="2400"/>
              <a:t>Hema starting from her house walked 5 km to reach the crossing of Palace. In which direction she was going, a road opposite to this direction goes to Hospital. The road to the right goes to station. If the road which goes to station is just opposite to the road which IT-Park, then in which direction to Hema is the road which goes to IT-Park?</a:t>
            </a:r>
            <a:endParaRPr sz="2800"/>
          </a:p>
        </p:txBody>
      </p:sp>
      <p:sp>
        <p:nvSpPr>
          <p:cNvPr id="323" name="Google Shape;323;p31"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4" name="Google Shape;324;p31"/>
          <p:cNvSpPr txBox="1">
            <a:spLocks noGrp="1"/>
          </p:cNvSpPr>
          <p:nvPr>
            <p:ph type="body" idx="1"/>
          </p:nvPr>
        </p:nvSpPr>
        <p:spPr>
          <a:xfrm>
            <a:off x="762000" y="4991100"/>
            <a:ext cx="7924800" cy="5334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None/>
            </a:pPr>
            <a:r>
              <a:rPr lang="en-GB" sz="2000"/>
              <a:t>From II it is clear that the road which goes to IT-Park is left to Hema.</a:t>
            </a:r>
            <a:endParaRPr/>
          </a:p>
          <a:p>
            <a:pPr marL="342900" lvl="0" indent="-342900" algn="l" rtl="0">
              <a:spcBef>
                <a:spcPts val="400"/>
              </a:spcBef>
              <a:spcAft>
                <a:spcPts val="0"/>
              </a:spcAft>
              <a:buClr>
                <a:schemeClr val="dk1"/>
              </a:buClr>
              <a:buSzPts val="2000"/>
              <a:buNone/>
            </a:pPr>
            <a:endParaRPr sz="2000"/>
          </a:p>
        </p:txBody>
      </p:sp>
      <p:pic>
        <p:nvPicPr>
          <p:cNvPr id="325" name="Google Shape;325;p31" descr="https://www.indiabix.com/_files/images/verbal-reasoning/direction-sense/4-3-intro-5.png"/>
          <p:cNvPicPr preferRelativeResize="0"/>
          <p:nvPr/>
        </p:nvPicPr>
        <p:blipFill rotWithShape="1">
          <a:blip r:embed="rId4">
            <a:alphaModFix/>
          </a:blip>
          <a:srcRect/>
          <a:stretch/>
        </p:blipFill>
        <p:spPr>
          <a:xfrm>
            <a:off x="1981200" y="3009900"/>
            <a:ext cx="3745230" cy="1892300"/>
          </a:xfrm>
          <a:prstGeom prst="rect">
            <a:avLst/>
          </a:prstGeom>
          <a:noFill/>
          <a:ln>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32"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31" name="Google Shape;331;p32"/>
          <p:cNvSpPr txBox="1">
            <a:spLocks noGrp="1"/>
          </p:cNvSpPr>
          <p:nvPr>
            <p:ph type="title"/>
          </p:nvPr>
        </p:nvSpPr>
        <p:spPr>
          <a:xfrm>
            <a:off x="457200" y="723900"/>
            <a:ext cx="8229600" cy="2438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Hemant in order to go to university started from his house in the east and came to a crossing. The road to the left ends in a theatre, straight ahead is the hospital. In which direction is the university?</a:t>
            </a:r>
            <a:br>
              <a:rPr lang="en-GB" sz="2400"/>
            </a:br>
            <a:r>
              <a:rPr lang="en-GB" sz="2400"/>
              <a:t>a) North	b) South	c) East		d) West</a:t>
            </a:r>
            <a:endParaRPr sz="32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33"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37" name="Google Shape;337;p33"/>
          <p:cNvSpPr txBox="1">
            <a:spLocks noGrp="1"/>
          </p:cNvSpPr>
          <p:nvPr>
            <p:ph type="title"/>
          </p:nvPr>
        </p:nvSpPr>
        <p:spPr>
          <a:xfrm>
            <a:off x="457200" y="723900"/>
            <a:ext cx="8229600" cy="160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Hemant in order to go to university started from his house in the east and came to a crossing. The road to the left ends in a theatre, straight ahead is the hospital. In which direction is the university?</a:t>
            </a:r>
            <a:br>
              <a:rPr lang="en-GB" sz="2400"/>
            </a:br>
            <a:r>
              <a:rPr lang="en-GB" sz="2400">
                <a:solidFill>
                  <a:srgbClr val="FF0000"/>
                </a:solidFill>
              </a:rPr>
              <a:t> a) North</a:t>
            </a:r>
            <a:r>
              <a:rPr lang="en-GB" sz="2400">
                <a:solidFill>
                  <a:srgbClr val="000000"/>
                </a:solidFill>
              </a:rPr>
              <a:t>	b) South	c) East		d) West</a:t>
            </a:r>
            <a:endParaRPr sz="3200"/>
          </a:p>
        </p:txBody>
      </p:sp>
      <p:sp>
        <p:nvSpPr>
          <p:cNvPr id="338" name="Google Shape;338;p33"/>
          <p:cNvSpPr txBox="1">
            <a:spLocks noGrp="1"/>
          </p:cNvSpPr>
          <p:nvPr>
            <p:ph type="body" idx="1"/>
          </p:nvPr>
        </p:nvSpPr>
        <p:spPr>
          <a:xfrm>
            <a:off x="533400" y="4381500"/>
            <a:ext cx="8229600" cy="95223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None/>
            </a:pPr>
            <a:r>
              <a:rPr lang="en-GB" sz="2400"/>
              <a:t>Therefore university is in North.</a:t>
            </a:r>
            <a:endParaRPr sz="2400"/>
          </a:p>
        </p:txBody>
      </p:sp>
      <p:pic>
        <p:nvPicPr>
          <p:cNvPr id="339" name="Google Shape;339;p33" descr="https://www.indiabix.com/_files/images/verbal-reasoning/direction-sense/4-3-1-30u.png"/>
          <p:cNvPicPr preferRelativeResize="0"/>
          <p:nvPr/>
        </p:nvPicPr>
        <p:blipFill rotWithShape="1">
          <a:blip r:embed="rId4">
            <a:alphaModFix/>
          </a:blip>
          <a:srcRect/>
          <a:stretch/>
        </p:blipFill>
        <p:spPr>
          <a:xfrm>
            <a:off x="1981200" y="2400300"/>
            <a:ext cx="3505200" cy="1848370"/>
          </a:xfrm>
          <a:prstGeom prst="rect">
            <a:avLst/>
          </a:prstGeom>
          <a:noFill/>
          <a:ln>
            <a:noFill/>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34"/>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345" name="Google Shape;345;p34"/>
          <p:cNvSpPr txBox="1">
            <a:spLocks noGrp="1"/>
          </p:cNvSpPr>
          <p:nvPr>
            <p:ph type="title"/>
          </p:nvPr>
        </p:nvSpPr>
        <p:spPr>
          <a:xfrm>
            <a:off x="762000" y="0"/>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6:</a:t>
            </a:r>
            <a:r>
              <a:rPr lang="en-GB" sz="2800"/>
              <a:t/>
            </a:r>
            <a:br>
              <a:rPr lang="en-GB" sz="2800"/>
            </a:br>
            <a:r>
              <a:rPr lang="en-GB" sz="2400"/>
              <a:t> One evening  at the time of  sunset Juhi while returning from  school met Lalli at Boring road crossing. Lalli's shadow was exactly to the right of Juhi. If they were face to face, which direction was Juhi facing?</a:t>
            </a:r>
            <a:endParaRPr sz="2800"/>
          </a:p>
        </p:txBody>
      </p:sp>
      <p:sp>
        <p:nvSpPr>
          <p:cNvPr id="346" name="Google Shape;346;p34"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p35"/>
          <p:cNvPicPr preferRelativeResize="0"/>
          <p:nvPr/>
        </p:nvPicPr>
        <p:blipFill rotWithShape="1">
          <a:blip r:embed="rId3">
            <a:alphaModFix/>
          </a:blip>
          <a:srcRect/>
          <a:stretch/>
        </p:blipFill>
        <p:spPr>
          <a:xfrm>
            <a:off x="0" y="0"/>
            <a:ext cx="9144000" cy="5715000"/>
          </a:xfrm>
          <a:prstGeom prst="rect">
            <a:avLst/>
          </a:prstGeom>
          <a:noFill/>
          <a:ln>
            <a:noFill/>
          </a:ln>
        </p:spPr>
      </p:pic>
      <p:sp>
        <p:nvSpPr>
          <p:cNvPr id="352" name="Google Shape;352;p35"/>
          <p:cNvSpPr txBox="1">
            <a:spLocks noGrp="1"/>
          </p:cNvSpPr>
          <p:nvPr>
            <p:ph type="title"/>
          </p:nvPr>
        </p:nvSpPr>
        <p:spPr>
          <a:xfrm>
            <a:off x="762000" y="0"/>
            <a:ext cx="7924800" cy="23238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0000"/>
              </a:buClr>
              <a:buSzPts val="3200"/>
              <a:buFont typeface="Calibri"/>
              <a:buNone/>
            </a:pPr>
            <a:r>
              <a:rPr lang="en-GB" sz="3200" b="1">
                <a:solidFill>
                  <a:srgbClr val="FF0000"/>
                </a:solidFill>
              </a:rPr>
              <a:t>Type 6:</a:t>
            </a:r>
            <a:r>
              <a:rPr lang="en-GB" sz="2800"/>
              <a:t/>
            </a:r>
            <a:br>
              <a:rPr lang="en-GB" sz="2800"/>
            </a:br>
            <a:r>
              <a:rPr lang="en-GB" sz="2400"/>
              <a:t>One evening  at the time of  sunset Juhi while returning from  school met Lalli at Boring road crossing. Lalli's shadow was exactly to the right of Juhi. If they were face to face, which direction was Juhi facing?</a:t>
            </a:r>
            <a:endParaRPr sz="2800"/>
          </a:p>
        </p:txBody>
      </p:sp>
      <p:sp>
        <p:nvSpPr>
          <p:cNvPr id="353" name="Google Shape;353;p35"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4" name="Google Shape;354;p35"/>
          <p:cNvSpPr txBox="1">
            <a:spLocks noGrp="1"/>
          </p:cNvSpPr>
          <p:nvPr>
            <p:ph type="body" idx="1"/>
          </p:nvPr>
        </p:nvSpPr>
        <p:spPr>
          <a:xfrm>
            <a:off x="762000" y="2324100"/>
            <a:ext cx="7924800" cy="2781036"/>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None/>
            </a:pPr>
            <a:r>
              <a:rPr lang="en-GB" sz="2000"/>
              <a:t>In the evening sunsets in the west.</a:t>
            </a:r>
            <a:endParaRPr/>
          </a:p>
          <a:p>
            <a:pPr marL="342900" lvl="0" indent="-342900" algn="l" rtl="0">
              <a:spcBef>
                <a:spcPts val="370"/>
              </a:spcBef>
              <a:spcAft>
                <a:spcPts val="0"/>
              </a:spcAft>
              <a:buClr>
                <a:schemeClr val="dk1"/>
              </a:buClr>
              <a:buSzPct val="100000"/>
              <a:buNone/>
            </a:pPr>
            <a:endParaRPr sz="2000"/>
          </a:p>
          <a:p>
            <a:pPr marL="342900" lvl="0" indent="-342900" algn="l" rtl="0">
              <a:spcBef>
                <a:spcPts val="370"/>
              </a:spcBef>
              <a:spcAft>
                <a:spcPts val="0"/>
              </a:spcAft>
              <a:buClr>
                <a:schemeClr val="dk1"/>
              </a:buClr>
              <a:buSzPct val="100000"/>
              <a:buNone/>
            </a:pPr>
            <a:endParaRPr sz="2000"/>
          </a:p>
          <a:p>
            <a:pPr marL="342900" lvl="0" indent="-342900" algn="l" rtl="0">
              <a:spcBef>
                <a:spcPts val="370"/>
              </a:spcBef>
              <a:spcAft>
                <a:spcPts val="0"/>
              </a:spcAft>
              <a:buClr>
                <a:schemeClr val="dk1"/>
              </a:buClr>
              <a:buSzPct val="100000"/>
              <a:buNone/>
            </a:pPr>
            <a:endParaRPr sz="2000"/>
          </a:p>
          <a:p>
            <a:pPr marL="342900" lvl="0" indent="-342900" algn="l" rtl="0">
              <a:spcBef>
                <a:spcPts val="370"/>
              </a:spcBef>
              <a:spcAft>
                <a:spcPts val="0"/>
              </a:spcAft>
              <a:buClr>
                <a:schemeClr val="dk1"/>
              </a:buClr>
              <a:buSzPct val="100000"/>
              <a:buNone/>
            </a:pPr>
            <a:endParaRPr sz="2000"/>
          </a:p>
          <a:p>
            <a:pPr marL="342900" lvl="0" indent="-342900" algn="l" rtl="0">
              <a:spcBef>
                <a:spcPts val="370"/>
              </a:spcBef>
              <a:spcAft>
                <a:spcPts val="0"/>
              </a:spcAft>
              <a:buClr>
                <a:schemeClr val="dk1"/>
              </a:buClr>
              <a:buSzPct val="100000"/>
              <a:buNone/>
            </a:pPr>
            <a:endParaRPr sz="2000"/>
          </a:p>
          <a:p>
            <a:pPr marL="342900" lvl="0" indent="-342900" algn="l" rtl="0">
              <a:spcBef>
                <a:spcPts val="370"/>
              </a:spcBef>
              <a:spcAft>
                <a:spcPts val="0"/>
              </a:spcAft>
              <a:buClr>
                <a:schemeClr val="dk1"/>
              </a:buClr>
              <a:buSzPct val="100000"/>
              <a:buNone/>
            </a:pPr>
            <a:r>
              <a:rPr lang="en-GB" sz="2000"/>
              <a:t>So in evening the shadow falls towards the East.</a:t>
            </a:r>
            <a:endParaRPr/>
          </a:p>
          <a:p>
            <a:pPr marL="342900" lvl="0" indent="-342900" algn="l" rtl="0">
              <a:spcBef>
                <a:spcPts val="370"/>
              </a:spcBef>
              <a:spcAft>
                <a:spcPts val="0"/>
              </a:spcAft>
              <a:buClr>
                <a:schemeClr val="dk1"/>
              </a:buClr>
              <a:buSzPct val="100000"/>
              <a:buNone/>
            </a:pPr>
            <a:r>
              <a:rPr lang="en-GB" sz="2000"/>
              <a:t>Now Lalli's shadow falls to the right of the Juhi. </a:t>
            </a:r>
            <a:endParaRPr/>
          </a:p>
          <a:p>
            <a:pPr marL="342900" lvl="0" indent="-342900" algn="l" rtl="0">
              <a:spcBef>
                <a:spcPts val="370"/>
              </a:spcBef>
              <a:spcAft>
                <a:spcPts val="0"/>
              </a:spcAft>
              <a:buClr>
                <a:schemeClr val="dk1"/>
              </a:buClr>
              <a:buSzPct val="100000"/>
              <a:buNone/>
            </a:pPr>
            <a:r>
              <a:rPr lang="en-GB" sz="2000"/>
              <a:t>Hence Juhi is facing North .</a:t>
            </a:r>
            <a:endParaRPr/>
          </a:p>
        </p:txBody>
      </p:sp>
      <p:pic>
        <p:nvPicPr>
          <p:cNvPr id="355" name="Google Shape;355;p35"/>
          <p:cNvPicPr preferRelativeResize="0"/>
          <p:nvPr/>
        </p:nvPicPr>
        <p:blipFill rotWithShape="1">
          <a:blip r:embed="rId4">
            <a:alphaModFix/>
          </a:blip>
          <a:srcRect/>
          <a:stretch/>
        </p:blipFill>
        <p:spPr>
          <a:xfrm>
            <a:off x="2895600" y="2628901"/>
            <a:ext cx="1722120" cy="1447800"/>
          </a:xfrm>
          <a:prstGeom prst="rect">
            <a:avLst/>
          </a:prstGeom>
          <a:noFill/>
          <a:ln>
            <a:noFill/>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36"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61" name="Google Shape;361;p36"/>
          <p:cNvSpPr txBox="1">
            <a:spLocks noGrp="1"/>
          </p:cNvSpPr>
          <p:nvPr>
            <p:ph type="title"/>
          </p:nvPr>
        </p:nvSpPr>
        <p:spPr>
          <a:xfrm>
            <a:off x="762000" y="571500"/>
            <a:ext cx="7924800" cy="2323836"/>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chemeClr val="dk1"/>
              </a:buClr>
              <a:buSzPts val="2800"/>
              <a:buFont typeface="Calibri"/>
              <a:buNone/>
            </a:pPr>
            <a:r>
              <a:rPr lang="en-GB" sz="2800"/>
              <a:t/>
            </a:r>
            <a:br>
              <a:rPr lang="en-GB" sz="2800"/>
            </a:br>
            <a:r>
              <a:rPr lang="en-GB" sz="2400"/>
              <a:t>One morning after sunrise, Suresh was standing facing a pole.</a:t>
            </a:r>
            <a:br>
              <a:rPr lang="en-GB" sz="2400"/>
            </a:br>
            <a:r>
              <a:rPr lang="en-GB" sz="2400"/>
              <a:t>The shadow of the pole fell exactly to his right. To which direction was he facing?</a:t>
            </a:r>
            <a:br>
              <a:rPr lang="en-GB" sz="2400"/>
            </a:br>
            <a:r>
              <a:rPr lang="en-GB" sz="2400"/>
              <a:t>a) East	  b) West    c) South  d) Data is inadequate</a:t>
            </a:r>
            <a:br>
              <a:rPr lang="en-GB" sz="2400"/>
            </a:br>
            <a:endParaRPr sz="2800"/>
          </a:p>
        </p:txBody>
      </p:sp>
      <p:sp>
        <p:nvSpPr>
          <p:cNvPr id="362" name="Google Shape;362;p36"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p37"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68" name="Google Shape;368;p37"/>
          <p:cNvSpPr txBox="1">
            <a:spLocks noGrp="1"/>
          </p:cNvSpPr>
          <p:nvPr>
            <p:ph type="title"/>
          </p:nvPr>
        </p:nvSpPr>
        <p:spPr>
          <a:xfrm>
            <a:off x="762000" y="571500"/>
            <a:ext cx="7924800" cy="2323836"/>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chemeClr val="dk1"/>
              </a:buClr>
              <a:buSzPts val="2800"/>
              <a:buFont typeface="Calibri"/>
              <a:buNone/>
            </a:pPr>
            <a:r>
              <a:rPr lang="en-GB" sz="2800"/>
              <a:t/>
            </a:r>
            <a:br>
              <a:rPr lang="en-GB" sz="2800"/>
            </a:br>
            <a:r>
              <a:rPr lang="en-GB" sz="2400"/>
              <a:t>One morning after sunrise, Suresh was standing facing a pole.</a:t>
            </a:r>
            <a:br>
              <a:rPr lang="en-GB" sz="2400"/>
            </a:br>
            <a:r>
              <a:rPr lang="en-GB" sz="2400"/>
              <a:t>The shadow of the pole fell exactly to his right. To which direction was he facing?</a:t>
            </a:r>
            <a:br>
              <a:rPr lang="en-GB" sz="2400"/>
            </a:br>
            <a:r>
              <a:rPr lang="en-GB" sz="2400"/>
              <a:t>a) East	  b) West    </a:t>
            </a:r>
            <a:r>
              <a:rPr lang="en-GB" sz="2400">
                <a:solidFill>
                  <a:srgbClr val="FF0000"/>
                </a:solidFill>
              </a:rPr>
              <a:t>c) South  </a:t>
            </a:r>
            <a:r>
              <a:rPr lang="en-GB" sz="2400"/>
              <a:t>d) Data is inadequate</a:t>
            </a:r>
            <a:br>
              <a:rPr lang="en-GB" sz="2400"/>
            </a:br>
            <a:endParaRPr sz="2800"/>
          </a:p>
        </p:txBody>
      </p:sp>
      <p:sp>
        <p:nvSpPr>
          <p:cNvPr id="369" name="Google Shape;369;p37" descr="Education Powerpoint Background Free Images | HD Wallpaper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p38"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75" name="Google Shape;375;p38"/>
          <p:cNvSpPr txBox="1">
            <a:spLocks noGrp="1"/>
          </p:cNvSpPr>
          <p:nvPr>
            <p:ph type="title"/>
          </p:nvPr>
        </p:nvSpPr>
        <p:spPr>
          <a:xfrm>
            <a:off x="457200" y="723900"/>
            <a:ext cx="8229600" cy="160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 Village Q is to the North of the village P. The village R is in the East of Village Q. The village S is to the left of the village P. In which direction is the village S with respect to village R?</a:t>
            </a:r>
            <a:br>
              <a:rPr lang="en-GB" sz="2400"/>
            </a:br>
            <a:r>
              <a:rPr lang="en-GB" sz="2400"/>
              <a:t>a) West	b) South-West		c) South      d) North-West</a:t>
            </a:r>
            <a:endParaRPr sz="240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0" name="Google Shape;380;p39"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81" name="Google Shape;381;p39"/>
          <p:cNvSpPr txBox="1">
            <a:spLocks noGrp="1"/>
          </p:cNvSpPr>
          <p:nvPr>
            <p:ph type="title"/>
          </p:nvPr>
        </p:nvSpPr>
        <p:spPr>
          <a:xfrm>
            <a:off x="457200" y="723900"/>
            <a:ext cx="8229600" cy="160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 Village Q is to the North of the village P. The village R is in the East of Village Q. The village S is to the left of the village P. In which direction is the village S with respect to village R?</a:t>
            </a:r>
            <a:br>
              <a:rPr lang="en-GB" sz="2400"/>
            </a:br>
            <a:r>
              <a:rPr lang="en-GB" sz="2400"/>
              <a:t> a) West	b) South-West		c) South      d) North-West</a:t>
            </a:r>
            <a:endParaRPr sz="2400"/>
          </a:p>
        </p:txBody>
      </p:sp>
      <p:pic>
        <p:nvPicPr>
          <p:cNvPr id="382" name="Google Shape;382;p39" descr="https://www.indiabix.com/_files/images/verbal-reasoning/direction-sense/4-3-1-48.png"/>
          <p:cNvPicPr preferRelativeResize="0"/>
          <p:nvPr/>
        </p:nvPicPr>
        <p:blipFill rotWithShape="1">
          <a:blip r:embed="rId4">
            <a:alphaModFix/>
          </a:blip>
          <a:srcRect/>
          <a:stretch/>
        </p:blipFill>
        <p:spPr>
          <a:xfrm>
            <a:off x="2590800" y="2476500"/>
            <a:ext cx="2133600" cy="1992704"/>
          </a:xfrm>
          <a:prstGeom prst="rect">
            <a:avLst/>
          </a:prstGeom>
          <a:noFill/>
          <a:ln>
            <a:noFill/>
          </a:ln>
        </p:spPr>
      </p:pic>
      <p:sp>
        <p:nvSpPr>
          <p:cNvPr id="383" name="Google Shape;383;p39"/>
          <p:cNvSpPr/>
          <p:nvPr/>
        </p:nvSpPr>
        <p:spPr>
          <a:xfrm>
            <a:off x="1752600" y="4762500"/>
            <a:ext cx="373380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Calibri"/>
                <a:ea typeface="Calibri"/>
                <a:cs typeface="Calibri"/>
                <a:sym typeface="Calibri"/>
              </a:rPr>
              <a:t>S is to the South-West of R.</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40"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pic>
        <p:nvPicPr>
          <p:cNvPr id="389" name="Google Shape;389;p40" descr="Problems and Solutions - Tom yum Kung and Sashimi"/>
          <p:cNvPicPr preferRelativeResize="0"/>
          <p:nvPr/>
        </p:nvPicPr>
        <p:blipFill rotWithShape="1">
          <a:blip r:embed="rId4">
            <a:alphaModFix/>
          </a:blip>
          <a:srcRect/>
          <a:stretch/>
        </p:blipFill>
        <p:spPr>
          <a:xfrm>
            <a:off x="152400" y="647700"/>
            <a:ext cx="8785723" cy="4038600"/>
          </a:xfrm>
          <a:prstGeom prst="rect">
            <a:avLst/>
          </a:prstGeom>
          <a:noFill/>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41"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395" name="Google Shape;395;p41"/>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r>
              <a:rPr lang="en-GB" sz="2400"/>
              <a:t>1) A man went 10 kms  towards  South. Then turned East and covered 10 kms and turned to the right. Again after 10 kms, he turned to left and covered 10 kms to reach the destination. How far is he from his starting point?</a:t>
            </a:r>
            <a:r>
              <a:rPr lang="en-GB" sz="2000"/>
              <a:t/>
            </a:r>
            <a:br>
              <a:rPr lang="en-GB" sz="2000"/>
            </a:br>
            <a:r>
              <a:rPr lang="en-GB" sz="2400"/>
              <a:t>a) 18.8 km b) 28.28 km c) 16 km d) 20 km</a:t>
            </a:r>
            <a:r>
              <a:rPr lang="en-GB" sz="2000"/>
              <a:t/>
            </a:r>
            <a:br>
              <a:rPr lang="en-GB" sz="2000"/>
            </a:br>
            <a:endParaRPr sz="240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42"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01" name="Google Shape;401;p42"/>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r>
              <a:rPr lang="en-GB" sz="2400"/>
              <a:t>1) A man went 10 kms  towards  South. Then turned East and covered 10 kms and turned to the right. Again after 10 kms, he turned to left and covered 10 kms to reach the destination. How far is he from his starting point?</a:t>
            </a:r>
            <a:r>
              <a:rPr lang="en-GB" sz="2000"/>
              <a:t/>
            </a:r>
            <a:br>
              <a:rPr lang="en-GB" sz="2000"/>
            </a:br>
            <a:r>
              <a:rPr lang="en-GB" sz="2400"/>
              <a:t>a) 18.8 km </a:t>
            </a:r>
            <a:r>
              <a:rPr lang="en-GB" sz="2400">
                <a:solidFill>
                  <a:srgbClr val="FF0000"/>
                </a:solidFill>
              </a:rPr>
              <a:t>b) 28.28 km </a:t>
            </a:r>
            <a:r>
              <a:rPr lang="en-GB" sz="2400"/>
              <a:t>c) 16 km d) 20 km</a:t>
            </a:r>
            <a:r>
              <a:rPr lang="en-GB" sz="2000"/>
              <a:t/>
            </a:r>
            <a:br>
              <a:rPr lang="en-GB" sz="2000"/>
            </a:br>
            <a:endParaRPr sz="2400"/>
          </a:p>
        </p:txBody>
      </p:sp>
      <p:pic>
        <p:nvPicPr>
          <p:cNvPr id="402" name="Google Shape;402;p42" descr="https://haygot.s3.amazonaws.com/questions/353354_369069_ans.png"/>
          <p:cNvPicPr preferRelativeResize="0"/>
          <p:nvPr/>
        </p:nvPicPr>
        <p:blipFill rotWithShape="1">
          <a:blip r:embed="rId4">
            <a:alphaModFix/>
          </a:blip>
          <a:srcRect/>
          <a:stretch/>
        </p:blipFill>
        <p:spPr>
          <a:xfrm>
            <a:off x="533400" y="2857500"/>
            <a:ext cx="3796906" cy="2209800"/>
          </a:xfrm>
          <a:prstGeom prst="rect">
            <a:avLst/>
          </a:prstGeom>
          <a:noFill/>
          <a:ln>
            <a:noFill/>
          </a:ln>
        </p:spPr>
      </p:pic>
      <p:sp>
        <p:nvSpPr>
          <p:cNvPr id="403" name="Google Shape;403;p42"/>
          <p:cNvSpPr txBox="1"/>
          <p:nvPr/>
        </p:nvSpPr>
        <p:spPr>
          <a:xfrm>
            <a:off x="4419600" y="3009900"/>
            <a:ext cx="441960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By Pythagoras theorem, the required distance  is √(20</a:t>
            </a:r>
            <a:r>
              <a:rPr lang="en-GB" sz="2400" baseline="300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+20</a:t>
            </a:r>
            <a:r>
              <a:rPr lang="en-GB" sz="2400" baseline="300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 √800 = 20 √2 = 28.28 Km</a:t>
            </a:r>
            <a:r>
              <a:rPr lang="en-GB" sz="1800" b="1">
                <a:solidFill>
                  <a:schemeClr val="dk1"/>
                </a:solidFill>
                <a:latin typeface="Calibri"/>
                <a:ea typeface="Calibri"/>
                <a:cs typeface="Calibri"/>
                <a:sym typeface="Calibri"/>
              </a:rPr>
              <a:t/>
            </a:r>
            <a:br>
              <a:rPr lang="en-GB" sz="1800" b="1">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404" name="Google Shape;404;p42"/>
          <p:cNvPicPr preferRelativeResize="0"/>
          <p:nvPr/>
        </p:nvPicPr>
        <p:blipFill rotWithShape="1">
          <a:blip r:embed="rId5">
            <a:alphaModFix/>
          </a:blip>
          <a:srcRect/>
          <a:stretch/>
        </p:blipFill>
        <p:spPr>
          <a:xfrm>
            <a:off x="3200400" y="2857500"/>
            <a:ext cx="857250" cy="981075"/>
          </a:xfrm>
          <a:prstGeom prst="rect">
            <a:avLst/>
          </a:prstGeom>
          <a:noFill/>
          <a:ln>
            <a:noFill/>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pic>
        <p:nvPicPr>
          <p:cNvPr id="409" name="Google Shape;409;p43"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10" name="Google Shape;410;p43"/>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2) Anil wants to go the university. He starts from his house which is in the East and comes to a crossing. The road to his left ends in a theatre, straight ahead is the hospital. In which direction is the University?</a:t>
            </a:r>
            <a:br>
              <a:rPr lang="en-GB" sz="2400"/>
            </a:br>
            <a:r>
              <a:rPr lang="en-GB" sz="2400"/>
              <a:t>a) East 		b) North 	c) South 	d) West </a:t>
            </a:r>
            <a:r>
              <a:rPr lang="en-GB" sz="2000"/>
              <a:t/>
            </a:r>
            <a:br>
              <a:rPr lang="en-GB" sz="2000"/>
            </a:br>
            <a:endParaRPr sz="240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pic>
        <p:nvPicPr>
          <p:cNvPr id="415" name="Google Shape;415;p44"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16" name="Google Shape;416;p44"/>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2) Anil wants to go the university. He starts from his house which is in the East and comes to a crossing. The road to his left ends in a theatre, straight ahead is the hospital. In which direction is the University?</a:t>
            </a:r>
            <a:br>
              <a:rPr lang="en-GB" sz="2400"/>
            </a:br>
            <a:r>
              <a:rPr lang="en-GB" sz="2400"/>
              <a:t>a) East 		</a:t>
            </a:r>
            <a:r>
              <a:rPr lang="en-GB" sz="2400">
                <a:solidFill>
                  <a:srgbClr val="FF0000"/>
                </a:solidFill>
              </a:rPr>
              <a:t>b) North 	</a:t>
            </a:r>
            <a:r>
              <a:rPr lang="en-GB" sz="2400"/>
              <a:t>c) South 	d) West </a:t>
            </a:r>
            <a:r>
              <a:rPr lang="en-GB" sz="2000"/>
              <a:t/>
            </a:r>
            <a:br>
              <a:rPr lang="en-GB" sz="2000"/>
            </a:br>
            <a:endParaRPr sz="2400"/>
          </a:p>
        </p:txBody>
      </p:sp>
      <p:pic>
        <p:nvPicPr>
          <p:cNvPr id="417" name="Google Shape;417;p44" descr="https://s3-ap-southeast-1.amazonaws.com/sawaal.com/qaimg(O)/Dtest-3.jpg"/>
          <p:cNvPicPr preferRelativeResize="0"/>
          <p:nvPr/>
        </p:nvPicPr>
        <p:blipFill rotWithShape="1">
          <a:blip r:embed="rId4">
            <a:alphaModFix/>
          </a:blip>
          <a:srcRect/>
          <a:stretch/>
        </p:blipFill>
        <p:spPr>
          <a:xfrm>
            <a:off x="685800" y="2781300"/>
            <a:ext cx="2305050" cy="2143125"/>
          </a:xfrm>
          <a:prstGeom prst="rect">
            <a:avLst/>
          </a:prstGeom>
          <a:noFill/>
          <a:ln>
            <a:noFill/>
          </a:ln>
        </p:spPr>
      </p:pic>
      <p:sp>
        <p:nvSpPr>
          <p:cNvPr id="418" name="Google Shape;418;p44"/>
          <p:cNvSpPr txBox="1"/>
          <p:nvPr/>
        </p:nvSpPr>
        <p:spPr>
          <a:xfrm>
            <a:off x="4191000" y="3009900"/>
            <a:ext cx="403860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rgbClr val="2A2A2A"/>
                </a:solidFill>
                <a:latin typeface="Arial"/>
                <a:ea typeface="Arial"/>
                <a:cs typeface="Arial"/>
                <a:sym typeface="Arial"/>
              </a:rPr>
              <a:t>Starting from his house in the East, Anil moves westwards. Then, the theatre, which is to the left, will be in the south. The Hospital, which is straight ahead, will be to the West. So, the University will be to the North.</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pic>
        <p:nvPicPr>
          <p:cNvPr id="423" name="Google Shape;423;p45"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24" name="Google Shape;424;p45"/>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3) If South-East becomes North, North-East becomes West and so on, what will West become?</a:t>
            </a:r>
            <a:br>
              <a:rPr lang="en-GB" sz="2400"/>
            </a:br>
            <a:r>
              <a:rPr lang="en-GB" sz="2400"/>
              <a:t>a) North	 b) East 	c) South-East 	     d) North-West</a:t>
            </a:r>
            <a:r>
              <a:rPr lang="en-GB" sz="2000"/>
              <a:t/>
            </a:r>
            <a:br>
              <a:rPr lang="en-GB" sz="2000"/>
            </a:br>
            <a:endParaRPr sz="240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46"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30" name="Google Shape;430;p46"/>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3) If South-East becomes North, North-East becomes West and so on, what will West become?</a:t>
            </a:r>
            <a:br>
              <a:rPr lang="en-GB" sz="2400"/>
            </a:br>
            <a:r>
              <a:rPr lang="en-GB" sz="2400"/>
              <a:t>a) North	 b) East 	c) South-East 	     d) North-West</a:t>
            </a:r>
            <a:r>
              <a:rPr lang="en-GB" sz="2000"/>
              <a:t/>
            </a:r>
            <a:br>
              <a:rPr lang="en-GB" sz="2000"/>
            </a:br>
            <a:endParaRPr sz="2400"/>
          </a:p>
        </p:txBody>
      </p:sp>
      <p:pic>
        <p:nvPicPr>
          <p:cNvPr id="431" name="Google Shape;431;p46"/>
          <p:cNvPicPr preferRelativeResize="0"/>
          <p:nvPr/>
        </p:nvPicPr>
        <p:blipFill rotWithShape="1">
          <a:blip r:embed="rId4">
            <a:alphaModFix/>
          </a:blip>
          <a:srcRect/>
          <a:stretch/>
        </p:blipFill>
        <p:spPr>
          <a:xfrm>
            <a:off x="914400" y="2705100"/>
            <a:ext cx="2543175" cy="1543050"/>
          </a:xfrm>
          <a:prstGeom prst="rect">
            <a:avLst/>
          </a:prstGeom>
          <a:noFill/>
          <a:ln>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pic>
        <p:nvPicPr>
          <p:cNvPr id="436" name="Google Shape;436;p47"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37" name="Google Shape;437;p47"/>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3) If South-East becomes North, North-East becomes West and so on, what will West become?</a:t>
            </a:r>
            <a:br>
              <a:rPr lang="en-GB" sz="2400"/>
            </a:br>
            <a:r>
              <a:rPr lang="en-GB" sz="2400"/>
              <a:t>a) North	 b) East 	</a:t>
            </a:r>
            <a:r>
              <a:rPr lang="en-GB" sz="2400">
                <a:solidFill>
                  <a:srgbClr val="FF0000"/>
                </a:solidFill>
              </a:rPr>
              <a:t>c) South-East </a:t>
            </a:r>
            <a:r>
              <a:rPr lang="en-GB" sz="2400"/>
              <a:t>	     d) North-West</a:t>
            </a:r>
            <a:r>
              <a:rPr lang="en-GB" sz="2000"/>
              <a:t/>
            </a:r>
            <a:br>
              <a:rPr lang="en-GB" sz="2000"/>
            </a:br>
            <a:endParaRPr sz="2400"/>
          </a:p>
        </p:txBody>
      </p:sp>
      <p:pic>
        <p:nvPicPr>
          <p:cNvPr id="438" name="Google Shape;438;p47"/>
          <p:cNvPicPr preferRelativeResize="0"/>
          <p:nvPr/>
        </p:nvPicPr>
        <p:blipFill rotWithShape="1">
          <a:blip r:embed="rId4">
            <a:alphaModFix/>
          </a:blip>
          <a:srcRect/>
          <a:stretch/>
        </p:blipFill>
        <p:spPr>
          <a:xfrm>
            <a:off x="990600" y="2476500"/>
            <a:ext cx="2581275" cy="1962150"/>
          </a:xfrm>
          <a:prstGeom prst="rect">
            <a:avLst/>
          </a:prstGeom>
          <a:noFill/>
          <a:ln>
            <a:noFill/>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pic>
        <p:nvPicPr>
          <p:cNvPr id="443" name="Google Shape;443;p48"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44" name="Google Shape;444;p48"/>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4) A man walks 1 km towards East and then he turns to South and walks 5 km. Again he turns to East and walks 2 km, after this he turns to North and walks 9 km .Now, how far is he from his starting point?</a:t>
            </a:r>
            <a:br>
              <a:rPr lang="en-GB" sz="2400"/>
            </a:br>
            <a:r>
              <a:rPr lang="en-GB" sz="2400"/>
              <a:t>a) 10 km 	b) 9 km 	c) 5 km 	d) 4 km </a:t>
            </a:r>
            <a:r>
              <a:rPr lang="en-GB" sz="2000"/>
              <a:t/>
            </a:r>
            <a:br>
              <a:rPr lang="en-GB" sz="2000"/>
            </a:br>
            <a:endParaRPr sz="240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49"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50" name="Google Shape;450;p49"/>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4) A man walks 1 km towards East and then he turns to South and walks 5 km. Again he turns to East and walks 2 km, after this he turns to North and walks 9 km .Now, how far is he from his starting point?</a:t>
            </a:r>
            <a:br>
              <a:rPr lang="en-GB" sz="2400"/>
            </a:br>
            <a:r>
              <a:rPr lang="en-GB" sz="2400"/>
              <a:t>a) 10 km 	b) 9 km 	</a:t>
            </a:r>
            <a:r>
              <a:rPr lang="en-GB" sz="2400">
                <a:solidFill>
                  <a:srgbClr val="FF0000"/>
                </a:solidFill>
              </a:rPr>
              <a:t>c) 5 km </a:t>
            </a:r>
            <a:r>
              <a:rPr lang="en-GB" sz="2400"/>
              <a:t>	d) 4 km </a:t>
            </a:r>
            <a:r>
              <a:rPr lang="en-GB" sz="2000"/>
              <a:t/>
            </a:r>
            <a:br>
              <a:rPr lang="en-GB" sz="2000"/>
            </a:br>
            <a:endParaRPr sz="2400"/>
          </a:p>
        </p:txBody>
      </p:sp>
      <p:pic>
        <p:nvPicPr>
          <p:cNvPr id="451" name="Google Shape;451;p49" descr="https://haygot.s3.amazonaws.com/questions/191623_197148_ans.JPG"/>
          <p:cNvPicPr preferRelativeResize="0"/>
          <p:nvPr/>
        </p:nvPicPr>
        <p:blipFill rotWithShape="1">
          <a:blip r:embed="rId4">
            <a:alphaModFix/>
          </a:blip>
          <a:srcRect/>
          <a:stretch/>
        </p:blipFill>
        <p:spPr>
          <a:xfrm>
            <a:off x="457200" y="2705100"/>
            <a:ext cx="2819400" cy="2577331"/>
          </a:xfrm>
          <a:prstGeom prst="rect">
            <a:avLst/>
          </a:prstGeom>
          <a:noFill/>
          <a:ln>
            <a:noFill/>
          </a:ln>
        </p:spPr>
      </p:pic>
      <p:pic>
        <p:nvPicPr>
          <p:cNvPr id="452" name="Google Shape;452;p49"/>
          <p:cNvPicPr preferRelativeResize="0"/>
          <p:nvPr/>
        </p:nvPicPr>
        <p:blipFill rotWithShape="1">
          <a:blip r:embed="rId5">
            <a:alphaModFix/>
          </a:blip>
          <a:srcRect/>
          <a:stretch/>
        </p:blipFill>
        <p:spPr>
          <a:xfrm>
            <a:off x="533400" y="2552700"/>
            <a:ext cx="838200" cy="959273"/>
          </a:xfrm>
          <a:prstGeom prst="rect">
            <a:avLst/>
          </a:prstGeom>
          <a:noFill/>
          <a:ln>
            <a:noFill/>
          </a:ln>
        </p:spPr>
      </p:pic>
      <p:sp>
        <p:nvSpPr>
          <p:cNvPr id="453" name="Google Shape;453;p49"/>
          <p:cNvSpPr txBox="1"/>
          <p:nvPr/>
        </p:nvSpPr>
        <p:spPr>
          <a:xfrm>
            <a:off x="4114800" y="2933700"/>
            <a:ext cx="441960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By Pythagoras theorem, the required distance  is √(3</a:t>
            </a:r>
            <a:r>
              <a:rPr lang="en-GB" sz="2400" baseline="300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+4</a:t>
            </a:r>
            <a:r>
              <a:rPr lang="en-GB" sz="2400" baseline="300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 √25 = 5 Km</a:t>
            </a:r>
            <a:r>
              <a:rPr lang="en-GB" sz="1800" b="1">
                <a:solidFill>
                  <a:schemeClr val="dk1"/>
                </a:solidFill>
                <a:latin typeface="Calibri"/>
                <a:ea typeface="Calibri"/>
                <a:cs typeface="Calibri"/>
                <a:sym typeface="Calibri"/>
              </a:rPr>
              <a:t/>
            </a:r>
            <a:br>
              <a:rPr lang="en-GB" sz="1800" b="1">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458" name="Google Shape;458;p50"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59" name="Google Shape;459;p50"/>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5) I am facing South.  I turn right and walk 20m .Then I turn right again and walk 10m .Then I turn left and walk 10 m and then turning right walk 20 m. Then, I turn right again and walks 60 m. In which direction am I from the starting point?</a:t>
            </a:r>
            <a:br>
              <a:rPr lang="en-GB" sz="2400"/>
            </a:br>
            <a:r>
              <a:rPr lang="en-GB" sz="2400"/>
              <a:t>a) North-East 	    b) North-West 	c) North 	d) West </a:t>
            </a:r>
            <a:endParaRPr sz="240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51"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65" name="Google Shape;465;p51"/>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5) I am facing South.  I turn right and walk 20m .Then I turn right again and walk 10m .Then I turn left and walk 10 m and then turning right walk 20 m. Then, I turn right again and walks 60 m. In which direction am I from the starting point?</a:t>
            </a:r>
            <a:br>
              <a:rPr lang="en-GB" sz="2400"/>
            </a:br>
            <a:r>
              <a:rPr lang="en-GB" sz="2400">
                <a:solidFill>
                  <a:srgbClr val="FF0000"/>
                </a:solidFill>
              </a:rPr>
              <a:t>a) North-East </a:t>
            </a:r>
            <a:r>
              <a:rPr lang="en-GB" sz="2400"/>
              <a:t>	    b) North-West 	c) North 	d) West </a:t>
            </a:r>
            <a:endParaRPr sz="2400"/>
          </a:p>
        </p:txBody>
      </p:sp>
      <p:pic>
        <p:nvPicPr>
          <p:cNvPr id="466" name="Google Shape;466;p51" descr="solution"/>
          <p:cNvPicPr preferRelativeResize="0"/>
          <p:nvPr/>
        </p:nvPicPr>
        <p:blipFill rotWithShape="1">
          <a:blip r:embed="rId4">
            <a:alphaModFix/>
          </a:blip>
          <a:srcRect/>
          <a:stretch/>
        </p:blipFill>
        <p:spPr>
          <a:xfrm>
            <a:off x="533400" y="3009900"/>
            <a:ext cx="3419475" cy="1685926"/>
          </a:xfrm>
          <a:prstGeom prst="rect">
            <a:avLst/>
          </a:prstGeom>
          <a:noFill/>
          <a:ln>
            <a:noFill/>
          </a:ln>
        </p:spPr>
      </p:pic>
      <p:pic>
        <p:nvPicPr>
          <p:cNvPr id="467" name="Google Shape;467;p51"/>
          <p:cNvPicPr preferRelativeResize="0"/>
          <p:nvPr/>
        </p:nvPicPr>
        <p:blipFill rotWithShape="1">
          <a:blip r:embed="rId5">
            <a:alphaModFix/>
          </a:blip>
          <a:srcRect/>
          <a:stretch/>
        </p:blipFill>
        <p:spPr>
          <a:xfrm>
            <a:off x="3352800" y="4000500"/>
            <a:ext cx="838200" cy="959273"/>
          </a:xfrm>
          <a:prstGeom prst="rect">
            <a:avLst/>
          </a:prstGeom>
          <a:noFill/>
          <a:ln>
            <a:noFill/>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52"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73" name="Google Shape;473;p52"/>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6) One day, Raviraj left home and cycled 20 Km southwards, turned right and cycled 10 km and turned right and cycled 20 Km and turned left and cycled 20 Km. How many kilometers will he have to cycle to reach his home straight ?</a:t>
            </a:r>
            <a:br>
              <a:rPr lang="en-GB" sz="2400"/>
            </a:br>
            <a:r>
              <a:rPr lang="en-GB" sz="2400"/>
              <a:t>a) 50 Km 	b)30 Km 	c) 40 Km 	d) 60 Km </a:t>
            </a:r>
            <a:r>
              <a:rPr lang="en-GB" sz="2000"/>
              <a:t/>
            </a:r>
            <a:br>
              <a:rPr lang="en-GB" sz="2000"/>
            </a:br>
            <a:endParaRPr sz="240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pic>
        <p:nvPicPr>
          <p:cNvPr id="478" name="Google Shape;478;p53"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79" name="Google Shape;479;p53"/>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6) One day, Raviraj left home and cycled 20 Km southwards, turned right and cycled 10 km and turned right and cycled 20 Km and turned left and cycled 20 Km. How many kilometers will he have to cycle to reach his home straight ?</a:t>
            </a:r>
            <a:br>
              <a:rPr lang="en-GB" sz="2400"/>
            </a:br>
            <a:r>
              <a:rPr lang="en-GB" sz="2400"/>
              <a:t>a) 50 Km 	</a:t>
            </a:r>
            <a:r>
              <a:rPr lang="en-GB" sz="2400">
                <a:solidFill>
                  <a:srgbClr val="FF0000"/>
                </a:solidFill>
              </a:rPr>
              <a:t>b)30 Km </a:t>
            </a:r>
            <a:r>
              <a:rPr lang="en-GB" sz="2400"/>
              <a:t>	c) 40 Km 	d) 60 Km </a:t>
            </a:r>
            <a:r>
              <a:rPr lang="en-GB" sz="2000"/>
              <a:t/>
            </a:r>
            <a:br>
              <a:rPr lang="en-GB" sz="2000"/>
            </a:br>
            <a:endParaRPr sz="2400"/>
          </a:p>
        </p:txBody>
      </p:sp>
      <p:pic>
        <p:nvPicPr>
          <p:cNvPr id="480" name="Google Shape;480;p53"/>
          <p:cNvPicPr preferRelativeResize="0"/>
          <p:nvPr/>
        </p:nvPicPr>
        <p:blipFill rotWithShape="1">
          <a:blip r:embed="rId4">
            <a:alphaModFix/>
          </a:blip>
          <a:srcRect/>
          <a:stretch/>
        </p:blipFill>
        <p:spPr>
          <a:xfrm>
            <a:off x="609600" y="2933700"/>
            <a:ext cx="2828925" cy="1847850"/>
          </a:xfrm>
          <a:prstGeom prst="rect">
            <a:avLst/>
          </a:prstGeom>
          <a:noFill/>
          <a:ln>
            <a:noFill/>
          </a:ln>
        </p:spPr>
      </p:pic>
      <p:pic>
        <p:nvPicPr>
          <p:cNvPr id="481" name="Google Shape;481;p53"/>
          <p:cNvPicPr preferRelativeResize="0"/>
          <p:nvPr/>
        </p:nvPicPr>
        <p:blipFill rotWithShape="1">
          <a:blip r:embed="rId5">
            <a:alphaModFix/>
          </a:blip>
          <a:srcRect/>
          <a:stretch/>
        </p:blipFill>
        <p:spPr>
          <a:xfrm>
            <a:off x="533400" y="4152900"/>
            <a:ext cx="838200" cy="959273"/>
          </a:xfrm>
          <a:prstGeom prst="rect">
            <a:avLst/>
          </a:prstGeom>
          <a:noFill/>
          <a:ln>
            <a:noFill/>
          </a:ln>
        </p:spPr>
      </p:pic>
      <p:sp>
        <p:nvSpPr>
          <p:cNvPr id="482" name="Google Shape;482;p53"/>
          <p:cNvSpPr txBox="1"/>
          <p:nvPr/>
        </p:nvSpPr>
        <p:spPr>
          <a:xfrm>
            <a:off x="4267200" y="3086100"/>
            <a:ext cx="3657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Calibri"/>
                <a:ea typeface="Calibri"/>
                <a:cs typeface="Calibri"/>
                <a:sym typeface="Calibri"/>
              </a:rPr>
              <a:t>Distance = ED + DA = 20 + 10 = 30 Km</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pic>
        <p:nvPicPr>
          <p:cNvPr id="487" name="Google Shape;487;p54"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88" name="Google Shape;488;p54"/>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7) Kunal walks 10 km towards North. From there he walks 6 Km towards South. Then, he walks 3 Km towards east. How far and in which direction is he with reference to his starting point ?</a:t>
            </a:r>
            <a:br>
              <a:rPr lang="en-GB" sz="2400"/>
            </a:br>
            <a:r>
              <a:rPr lang="en-GB" sz="2400"/>
              <a:t>a) 5 Km North 		b) 5 Km South 		c) 5 Km East </a:t>
            </a:r>
            <a:br>
              <a:rPr lang="en-GB" sz="2400"/>
            </a:br>
            <a:r>
              <a:rPr lang="en-GB" sz="2400"/>
              <a:t>d) 5 Km North-East </a:t>
            </a:r>
            <a:r>
              <a:rPr lang="en-GB" sz="2000"/>
              <a:t/>
            </a:r>
            <a:br>
              <a:rPr lang="en-GB" sz="2000"/>
            </a:br>
            <a:endParaRPr sz="240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55"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494" name="Google Shape;494;p55"/>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7) Kunal walks 10 km towards North. From there he walks 6 Km towards South. Then, he walks 3 Km towards east. How far and in which direction is he with reference to his starting point ?</a:t>
            </a:r>
            <a:br>
              <a:rPr lang="en-GB" sz="2400"/>
            </a:br>
            <a:r>
              <a:rPr lang="en-GB" sz="2400"/>
              <a:t>a) 5 Km North 		b) 5 Km South 		c) 5 Km East </a:t>
            </a:r>
            <a:br>
              <a:rPr lang="en-GB" sz="2400"/>
            </a:br>
            <a:r>
              <a:rPr lang="en-GB" sz="2400">
                <a:solidFill>
                  <a:srgbClr val="FF0000"/>
                </a:solidFill>
              </a:rPr>
              <a:t>d) 5 Km North-East </a:t>
            </a:r>
            <a:r>
              <a:rPr lang="en-GB" sz="2000"/>
              <a:t/>
            </a:r>
            <a:br>
              <a:rPr lang="en-GB" sz="2000"/>
            </a:br>
            <a:endParaRPr sz="2400"/>
          </a:p>
        </p:txBody>
      </p:sp>
      <p:pic>
        <p:nvPicPr>
          <p:cNvPr id="495" name="Google Shape;495;p55"/>
          <p:cNvPicPr preferRelativeResize="0"/>
          <p:nvPr/>
        </p:nvPicPr>
        <p:blipFill rotWithShape="1">
          <a:blip r:embed="rId4">
            <a:alphaModFix/>
          </a:blip>
          <a:srcRect/>
          <a:stretch/>
        </p:blipFill>
        <p:spPr>
          <a:xfrm>
            <a:off x="762000" y="2552700"/>
            <a:ext cx="2390775" cy="2733675"/>
          </a:xfrm>
          <a:prstGeom prst="rect">
            <a:avLst/>
          </a:prstGeom>
          <a:noFill/>
          <a:ln>
            <a:noFill/>
          </a:ln>
        </p:spPr>
      </p:pic>
      <p:sp>
        <p:nvSpPr>
          <p:cNvPr id="496" name="Google Shape;496;p55"/>
          <p:cNvSpPr txBox="1"/>
          <p:nvPr/>
        </p:nvSpPr>
        <p:spPr>
          <a:xfrm>
            <a:off x="3810000" y="2933700"/>
            <a:ext cx="4419600" cy="18466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By Pythagoras theorem, the required distance  is √(3</a:t>
            </a:r>
            <a:r>
              <a:rPr lang="en-GB" sz="2400" baseline="300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+4</a:t>
            </a:r>
            <a:r>
              <a:rPr lang="en-GB" sz="2400" baseline="300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 √25 = 5 Km</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Direction = North - East</a:t>
            </a:r>
            <a:r>
              <a:rPr lang="en-GB" sz="1800" b="1">
                <a:solidFill>
                  <a:schemeClr val="dk1"/>
                </a:solidFill>
                <a:latin typeface="Calibri"/>
                <a:ea typeface="Calibri"/>
                <a:cs typeface="Calibri"/>
                <a:sym typeface="Calibri"/>
              </a:rPr>
              <a:t/>
            </a:r>
            <a:br>
              <a:rPr lang="en-GB" sz="1800" b="1">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497" name="Google Shape;497;p55"/>
          <p:cNvPicPr preferRelativeResize="0"/>
          <p:nvPr/>
        </p:nvPicPr>
        <p:blipFill rotWithShape="1">
          <a:blip r:embed="rId5">
            <a:alphaModFix/>
          </a:blip>
          <a:srcRect/>
          <a:stretch/>
        </p:blipFill>
        <p:spPr>
          <a:xfrm>
            <a:off x="2895600" y="4152900"/>
            <a:ext cx="838200" cy="959273"/>
          </a:xfrm>
          <a:prstGeom prst="rect">
            <a:avLst/>
          </a:prstGeom>
          <a:noFill/>
          <a:ln>
            <a:noFill/>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pic>
        <p:nvPicPr>
          <p:cNvPr id="502" name="Google Shape;502;p56"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03" name="Google Shape;503;p56"/>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8) If East becomes South, west becomes North and so on, What will be the direction for South-West?</a:t>
            </a:r>
            <a:br>
              <a:rPr lang="en-GB" sz="2400"/>
            </a:br>
            <a:r>
              <a:rPr lang="en-GB" sz="2400"/>
              <a:t>a)North-west 	      b)South-East 	c)East 	      d)North </a:t>
            </a:r>
            <a:r>
              <a:rPr lang="en-GB" sz="2000"/>
              <a:t/>
            </a:r>
            <a:br>
              <a:rPr lang="en-GB" sz="2000"/>
            </a:br>
            <a:r>
              <a:rPr lang="en-GB" sz="2000"/>
              <a:t/>
            </a:r>
            <a:br>
              <a:rPr lang="en-GB" sz="2000"/>
            </a:br>
            <a:endParaRPr sz="240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57"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09" name="Google Shape;509;p57"/>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8) If East becomes South, west becomes North and so on, What will be the direction for South-West?</a:t>
            </a:r>
            <a:br>
              <a:rPr lang="en-GB" sz="2400"/>
            </a:br>
            <a:r>
              <a:rPr lang="en-GB" sz="2400"/>
              <a:t>a)North-west 	      b)South-East 	c)East 	      d)North </a:t>
            </a:r>
            <a:r>
              <a:rPr lang="en-GB" sz="2000"/>
              <a:t/>
            </a:r>
            <a:br>
              <a:rPr lang="en-GB" sz="2000"/>
            </a:br>
            <a:r>
              <a:rPr lang="en-GB" sz="2000"/>
              <a:t/>
            </a:r>
            <a:br>
              <a:rPr lang="en-GB" sz="2000"/>
            </a:br>
            <a:endParaRPr sz="2400"/>
          </a:p>
        </p:txBody>
      </p:sp>
      <p:pic>
        <p:nvPicPr>
          <p:cNvPr id="510" name="Google Shape;510;p57"/>
          <p:cNvPicPr preferRelativeResize="0"/>
          <p:nvPr/>
        </p:nvPicPr>
        <p:blipFill rotWithShape="1">
          <a:blip r:embed="rId4">
            <a:alphaModFix/>
          </a:blip>
          <a:srcRect/>
          <a:stretch/>
        </p:blipFill>
        <p:spPr>
          <a:xfrm>
            <a:off x="2895600" y="2628900"/>
            <a:ext cx="2543175" cy="1543050"/>
          </a:xfrm>
          <a:prstGeom prst="rect">
            <a:avLst/>
          </a:prstGeom>
          <a:noFill/>
          <a:ln>
            <a:noFill/>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515" name="Google Shape;515;p58"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16" name="Google Shape;516;p58"/>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dirty="0"/>
              <a:t>8) If East becomes South, west becomes North and so on, What will be the direction for South-West?</a:t>
            </a:r>
            <a:br>
              <a:rPr lang="en-GB" sz="2400" dirty="0"/>
            </a:br>
            <a:r>
              <a:rPr lang="en-GB" sz="2400" dirty="0">
                <a:solidFill>
                  <a:schemeClr val="tx1"/>
                </a:solidFill>
              </a:rPr>
              <a:t>a)North-west</a:t>
            </a:r>
            <a:r>
              <a:rPr lang="en-GB" sz="2400" dirty="0"/>
              <a:t> 	</a:t>
            </a:r>
            <a:r>
              <a:rPr lang="en-GB" sz="2400" dirty="0">
                <a:solidFill>
                  <a:srgbClr val="FF0000"/>
                </a:solidFill>
              </a:rPr>
              <a:t>      b)South-East </a:t>
            </a:r>
            <a:r>
              <a:rPr lang="en-GB" sz="2400" dirty="0"/>
              <a:t>	c)East 	      d)North </a:t>
            </a:r>
            <a:r>
              <a:rPr lang="en-GB" sz="2000" dirty="0"/>
              <a:t/>
            </a:r>
            <a:br>
              <a:rPr lang="en-GB" sz="2000" dirty="0"/>
            </a:br>
            <a:endParaRPr sz="2400"/>
          </a:p>
        </p:txBody>
      </p:sp>
      <p:pic>
        <p:nvPicPr>
          <p:cNvPr id="517" name="Google Shape;517;p58"/>
          <p:cNvPicPr preferRelativeResize="0"/>
          <p:nvPr/>
        </p:nvPicPr>
        <p:blipFill rotWithShape="1">
          <a:blip r:embed="rId4">
            <a:alphaModFix/>
          </a:blip>
          <a:srcRect/>
          <a:stretch/>
        </p:blipFill>
        <p:spPr>
          <a:xfrm>
            <a:off x="2057400" y="2705100"/>
            <a:ext cx="2771775" cy="2019300"/>
          </a:xfrm>
          <a:prstGeom prst="rect">
            <a:avLst/>
          </a:prstGeom>
          <a:noFill/>
          <a:ln>
            <a:noFill/>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pic>
        <p:nvPicPr>
          <p:cNvPr id="522" name="Google Shape;522;p59"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23" name="Google Shape;523;p59"/>
          <p:cNvSpPr txBox="1">
            <a:spLocks noGrp="1"/>
          </p:cNvSpPr>
          <p:nvPr>
            <p:ph type="title"/>
          </p:nvPr>
        </p:nvSpPr>
        <p:spPr>
          <a:xfrm>
            <a:off x="457200" y="723900"/>
            <a:ext cx="8229600" cy="2362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9) Joe is walking towards North for 15 miles, turns left and walks another 10 miles. He then turns right and walks 10 miles. Now, he again turns right and walks 30 miles. Which direction is he from Starting point?</a:t>
            </a:r>
            <a:br>
              <a:rPr lang="en-GB" sz="2400"/>
            </a:br>
            <a:r>
              <a:rPr lang="en-GB" sz="2400"/>
              <a:t>a) South-East 		 b) North-East   	c) North-West</a:t>
            </a:r>
            <a:br>
              <a:rPr lang="en-GB" sz="2400"/>
            </a:br>
            <a:r>
              <a:rPr lang="en-GB" sz="2400"/>
              <a:t>d) South-West   	e) None of these</a:t>
            </a:r>
            <a:r>
              <a:rPr lang="en-GB" sz="2000"/>
              <a:t/>
            </a:r>
            <a:br>
              <a:rPr lang="en-GB" sz="2000"/>
            </a:br>
            <a:endParaRPr sz="240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pic>
        <p:nvPicPr>
          <p:cNvPr id="528" name="Google Shape;528;p60"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29" name="Google Shape;529;p60"/>
          <p:cNvSpPr txBox="1">
            <a:spLocks noGrp="1"/>
          </p:cNvSpPr>
          <p:nvPr>
            <p:ph type="title"/>
          </p:nvPr>
        </p:nvSpPr>
        <p:spPr>
          <a:xfrm>
            <a:off x="457200" y="723900"/>
            <a:ext cx="8229600" cy="2362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9) Joe is walking towards North for 15 miles, turns left and walks another 10 miles. He then turns right and walks 10 miles. Now, he again turns right and walks 30 miles. Which direction is he from Starting point?</a:t>
            </a:r>
            <a:br>
              <a:rPr lang="en-GB" sz="2400"/>
            </a:br>
            <a:r>
              <a:rPr lang="en-GB" sz="2400"/>
              <a:t>a) South-East 		</a:t>
            </a:r>
            <a:r>
              <a:rPr lang="en-GB" sz="2400">
                <a:solidFill>
                  <a:srgbClr val="FF0000"/>
                </a:solidFill>
              </a:rPr>
              <a:t>b) North-East   </a:t>
            </a:r>
            <a:r>
              <a:rPr lang="en-GB" sz="2400"/>
              <a:t>	c) North-West</a:t>
            </a:r>
            <a:br>
              <a:rPr lang="en-GB" sz="2400"/>
            </a:br>
            <a:r>
              <a:rPr lang="en-GB" sz="2400"/>
              <a:t>d) South-West   	e) None of these</a:t>
            </a:r>
            <a:r>
              <a:rPr lang="en-GB" sz="2000"/>
              <a:t/>
            </a:r>
            <a:br>
              <a:rPr lang="en-GB" sz="2000"/>
            </a:br>
            <a:endParaRPr sz="2400"/>
          </a:p>
        </p:txBody>
      </p:sp>
      <p:pic>
        <p:nvPicPr>
          <p:cNvPr id="530" name="Google Shape;530;p60" descr="solution image"/>
          <p:cNvPicPr preferRelativeResize="0"/>
          <p:nvPr/>
        </p:nvPicPr>
        <p:blipFill rotWithShape="1">
          <a:blip r:embed="rId4">
            <a:alphaModFix/>
          </a:blip>
          <a:srcRect/>
          <a:stretch/>
        </p:blipFill>
        <p:spPr>
          <a:xfrm>
            <a:off x="3657600" y="3086100"/>
            <a:ext cx="1905000" cy="1866901"/>
          </a:xfrm>
          <a:prstGeom prst="rect">
            <a:avLst/>
          </a:prstGeom>
          <a:noFill/>
          <a:ln>
            <a:noFill/>
          </a:ln>
        </p:spPr>
      </p:pic>
      <p:pic>
        <p:nvPicPr>
          <p:cNvPr id="531" name="Google Shape;531;p60"/>
          <p:cNvPicPr preferRelativeResize="0"/>
          <p:nvPr/>
        </p:nvPicPr>
        <p:blipFill rotWithShape="1">
          <a:blip r:embed="rId5">
            <a:alphaModFix/>
          </a:blip>
          <a:srcRect/>
          <a:stretch/>
        </p:blipFill>
        <p:spPr>
          <a:xfrm>
            <a:off x="2514600" y="3695700"/>
            <a:ext cx="838200" cy="959273"/>
          </a:xfrm>
          <a:prstGeom prst="rect">
            <a:avLst/>
          </a:prstGeom>
          <a:noFill/>
          <a:ln>
            <a:noFill/>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pic>
        <p:nvPicPr>
          <p:cNvPr id="536" name="Google Shape;536;p61"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37" name="Google Shape;537;p61"/>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10) There are four towns P, Q, R and T. Q is to the South-west of P, R is to the east of Q and south-east of P, and T is to the north of R in line with QP. In which direction of P is T located?</a:t>
            </a:r>
            <a:br>
              <a:rPr lang="en-GB" sz="2400"/>
            </a:br>
            <a:r>
              <a:rPr lang="en-GB" sz="2400"/>
              <a:t>a) South–east 	      b)South 	   c)North–east 	d)East </a:t>
            </a:r>
            <a:r>
              <a:rPr lang="en-GB" sz="2000"/>
              <a:t/>
            </a:r>
            <a:br>
              <a:rPr lang="en-GB" sz="2000"/>
            </a:br>
            <a:endParaRPr sz="240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pic>
        <p:nvPicPr>
          <p:cNvPr id="542" name="Google Shape;542;p62"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43" name="Google Shape;543;p62"/>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10) There are four towns P, Q, R and T. Q is to the South-west of P, R is to the east of Q and south-east of P, and T is to the north of R in line with QP. In which direction of P is T located?</a:t>
            </a:r>
            <a:br>
              <a:rPr lang="en-GB" sz="2400"/>
            </a:br>
            <a:r>
              <a:rPr lang="en-GB" sz="2400"/>
              <a:t>a) South–east 	      b) South 	</a:t>
            </a:r>
            <a:r>
              <a:rPr lang="en-GB" sz="2400">
                <a:solidFill>
                  <a:srgbClr val="FF0000"/>
                </a:solidFill>
              </a:rPr>
              <a:t>   c) North–east </a:t>
            </a:r>
            <a:r>
              <a:rPr lang="en-GB" sz="2400"/>
              <a:t>	d) East </a:t>
            </a:r>
            <a:r>
              <a:rPr lang="en-GB" sz="2000"/>
              <a:t/>
            </a:r>
            <a:br>
              <a:rPr lang="en-GB" sz="2000"/>
            </a:br>
            <a:endParaRPr sz="2400"/>
          </a:p>
        </p:txBody>
      </p:sp>
      <p:pic>
        <p:nvPicPr>
          <p:cNvPr id="544" name="Google Shape;544;p62" descr="solution"/>
          <p:cNvPicPr preferRelativeResize="0"/>
          <p:nvPr/>
        </p:nvPicPr>
        <p:blipFill rotWithShape="1">
          <a:blip r:embed="rId4">
            <a:alphaModFix/>
          </a:blip>
          <a:srcRect/>
          <a:stretch/>
        </p:blipFill>
        <p:spPr>
          <a:xfrm>
            <a:off x="1524000" y="2400300"/>
            <a:ext cx="3126154" cy="2743200"/>
          </a:xfrm>
          <a:prstGeom prst="rect">
            <a:avLst/>
          </a:prstGeom>
          <a:noFill/>
          <a:ln>
            <a:noFill/>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pic>
        <p:nvPicPr>
          <p:cNvPr id="549" name="Google Shape;549;p63"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50" name="Google Shape;550;p63"/>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r>
              <a:rPr lang="en-GB" sz="2400"/>
              <a:t>11) Harry walks 25 meters towards North from his friend’s house. Then he turns left and walks 32 meters. He again turns left and walks 25 meters. Further, he moves 25 meters after turning to his right. How far is he from his friend’s house?</a:t>
            </a:r>
            <a:r>
              <a:rPr lang="en-GB" sz="2000"/>
              <a:t/>
            </a:r>
            <a:br>
              <a:rPr lang="en-GB" sz="2000"/>
            </a:br>
            <a:r>
              <a:rPr lang="en-GB" sz="2400"/>
              <a:t>a) 50  b) 7  c) 57 d) 0 </a:t>
            </a:r>
            <a:r>
              <a:rPr lang="en-GB" sz="2000"/>
              <a:t/>
            </a:r>
            <a:br>
              <a:rPr lang="en-GB" sz="2000"/>
            </a:br>
            <a:endParaRPr sz="240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pic>
        <p:nvPicPr>
          <p:cNvPr id="555" name="Google Shape;555;p64"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56" name="Google Shape;556;p64"/>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r>
              <a:rPr lang="en-GB" sz="2400"/>
              <a:t>11) Harry walks 25 meters towards North from his friend’s house. Then he turns left and walks 32 meters. He again turns left and walks 25 meters. Further, he moves 25 meters after turning to his right. How far is he from his friend’s house?</a:t>
            </a:r>
            <a:r>
              <a:rPr lang="en-GB" sz="2000"/>
              <a:t/>
            </a:r>
            <a:br>
              <a:rPr lang="en-GB" sz="2000"/>
            </a:br>
            <a:r>
              <a:rPr lang="en-GB" sz="2400"/>
              <a:t>a) 50  b) 7  </a:t>
            </a:r>
            <a:r>
              <a:rPr lang="en-GB" sz="2400">
                <a:solidFill>
                  <a:srgbClr val="FF0000"/>
                </a:solidFill>
              </a:rPr>
              <a:t>c) 57 </a:t>
            </a:r>
            <a:r>
              <a:rPr lang="en-GB" sz="2400"/>
              <a:t>d) 0 </a:t>
            </a:r>
            <a:r>
              <a:rPr lang="en-GB" sz="2000"/>
              <a:t/>
            </a:r>
            <a:br>
              <a:rPr lang="en-GB" sz="2000"/>
            </a:br>
            <a:endParaRPr sz="2400"/>
          </a:p>
        </p:txBody>
      </p:sp>
      <p:pic>
        <p:nvPicPr>
          <p:cNvPr id="557" name="Google Shape;557;p64" descr="solution image"/>
          <p:cNvPicPr preferRelativeResize="0"/>
          <p:nvPr/>
        </p:nvPicPr>
        <p:blipFill rotWithShape="1">
          <a:blip r:embed="rId4">
            <a:alphaModFix/>
          </a:blip>
          <a:srcRect/>
          <a:stretch/>
        </p:blipFill>
        <p:spPr>
          <a:xfrm>
            <a:off x="838200" y="3086100"/>
            <a:ext cx="3721392" cy="1600200"/>
          </a:xfrm>
          <a:prstGeom prst="rect">
            <a:avLst/>
          </a:prstGeom>
          <a:noFill/>
          <a:ln>
            <a:noFill/>
          </a:ln>
        </p:spPr>
      </p:pic>
      <p:pic>
        <p:nvPicPr>
          <p:cNvPr id="558" name="Google Shape;558;p64"/>
          <p:cNvPicPr preferRelativeResize="0"/>
          <p:nvPr/>
        </p:nvPicPr>
        <p:blipFill rotWithShape="1">
          <a:blip r:embed="rId5">
            <a:alphaModFix/>
          </a:blip>
          <a:srcRect/>
          <a:stretch/>
        </p:blipFill>
        <p:spPr>
          <a:xfrm>
            <a:off x="4876800" y="3434080"/>
            <a:ext cx="1066800" cy="1220893"/>
          </a:xfrm>
          <a:prstGeom prst="rect">
            <a:avLst/>
          </a:prstGeom>
          <a:noFill/>
          <a:ln>
            <a:noFill/>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pic>
        <p:nvPicPr>
          <p:cNvPr id="563" name="Google Shape;563;p65"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64" name="Google Shape;564;p65"/>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12) A car travels 25 kms towards south from garage. It turns left and travels 30 kms, then turns right and travels 15 kms. how far is car from the garage and in which direction?</a:t>
            </a:r>
            <a:br>
              <a:rPr lang="en-GB" sz="2400"/>
            </a:br>
            <a:r>
              <a:rPr lang="en-GB" sz="2400"/>
              <a:t>a) 40 North-East 	 b) 70 South-East	c) 60 North-East  </a:t>
            </a:r>
            <a:br>
              <a:rPr lang="en-GB" sz="2400"/>
            </a:br>
            <a:r>
              <a:rPr lang="en-GB" sz="2400"/>
              <a:t>d) 50 South-East </a:t>
            </a:r>
            <a:r>
              <a:rPr lang="en-GB" sz="2000"/>
              <a:t/>
            </a:r>
            <a:br>
              <a:rPr lang="en-GB" sz="2000"/>
            </a:br>
            <a:endParaRPr sz="240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pic>
        <p:nvPicPr>
          <p:cNvPr id="569" name="Google Shape;569;p66"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70" name="Google Shape;570;p66"/>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12) A car travels 25 kms towards south from garage. It turns left and travels 30 kms, then turns right and travels 15 kms. How far is car from the garage and in which direction?</a:t>
            </a:r>
            <a:br>
              <a:rPr lang="en-GB" sz="2400"/>
            </a:br>
            <a:r>
              <a:rPr lang="en-GB" sz="2400"/>
              <a:t>a) 40 North-East 	 b) 70 South-East	c) 60 North-East  </a:t>
            </a:r>
            <a:br>
              <a:rPr lang="en-GB" sz="2400"/>
            </a:br>
            <a:r>
              <a:rPr lang="en-GB" sz="2400">
                <a:solidFill>
                  <a:srgbClr val="FF0000"/>
                </a:solidFill>
              </a:rPr>
              <a:t>d) 50 South-East </a:t>
            </a:r>
            <a:r>
              <a:rPr lang="en-GB" sz="2000"/>
              <a:t/>
            </a:r>
            <a:br>
              <a:rPr lang="en-GB" sz="2000"/>
            </a:br>
            <a:endParaRPr sz="2400"/>
          </a:p>
        </p:txBody>
      </p:sp>
      <p:pic>
        <p:nvPicPr>
          <p:cNvPr id="571" name="Google Shape;571;p66" descr="direction 3a -35166776"/>
          <p:cNvPicPr preferRelativeResize="0"/>
          <p:nvPr/>
        </p:nvPicPr>
        <p:blipFill rotWithShape="1">
          <a:blip r:embed="rId4">
            <a:alphaModFix/>
          </a:blip>
          <a:srcRect/>
          <a:stretch/>
        </p:blipFill>
        <p:spPr>
          <a:xfrm>
            <a:off x="914400" y="2705100"/>
            <a:ext cx="2381250" cy="2228850"/>
          </a:xfrm>
          <a:prstGeom prst="rect">
            <a:avLst/>
          </a:prstGeom>
          <a:noFill/>
          <a:ln>
            <a:noFill/>
          </a:ln>
        </p:spPr>
      </p:pic>
      <p:pic>
        <p:nvPicPr>
          <p:cNvPr id="572" name="Google Shape;572;p66"/>
          <p:cNvPicPr preferRelativeResize="0"/>
          <p:nvPr/>
        </p:nvPicPr>
        <p:blipFill rotWithShape="1">
          <a:blip r:embed="rId5">
            <a:alphaModFix/>
          </a:blip>
          <a:srcRect/>
          <a:stretch/>
        </p:blipFill>
        <p:spPr>
          <a:xfrm>
            <a:off x="2209800" y="2552700"/>
            <a:ext cx="1066800" cy="1220893"/>
          </a:xfrm>
          <a:prstGeom prst="rect">
            <a:avLst/>
          </a:prstGeom>
          <a:noFill/>
          <a:ln>
            <a:noFill/>
          </a:ln>
        </p:spPr>
      </p:pic>
      <p:sp>
        <p:nvSpPr>
          <p:cNvPr id="573" name="Google Shape;573;p66"/>
          <p:cNvSpPr txBox="1"/>
          <p:nvPr/>
        </p:nvSpPr>
        <p:spPr>
          <a:xfrm>
            <a:off x="3810000" y="2933700"/>
            <a:ext cx="4419600" cy="18466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By Pythagoras theorem, the required distance  is √(40</a:t>
            </a:r>
            <a:r>
              <a:rPr lang="en-GB" sz="2400" baseline="300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+30</a:t>
            </a:r>
            <a:r>
              <a:rPr lang="en-GB" sz="2400" baseline="300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 √2500 = 50 Km</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Direction = South - East</a:t>
            </a:r>
            <a:r>
              <a:rPr lang="en-GB" sz="1800" b="1">
                <a:solidFill>
                  <a:schemeClr val="dk1"/>
                </a:solidFill>
                <a:latin typeface="Calibri"/>
                <a:ea typeface="Calibri"/>
                <a:cs typeface="Calibri"/>
                <a:sym typeface="Calibri"/>
              </a:rPr>
              <a:t/>
            </a:r>
            <a:br>
              <a:rPr lang="en-GB" sz="1800" b="1">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578" name="Google Shape;578;p67"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79" name="Google Shape;579;p67"/>
          <p:cNvSpPr txBox="1">
            <a:spLocks noGrp="1"/>
          </p:cNvSpPr>
          <p:nvPr>
            <p:ph type="title"/>
          </p:nvPr>
        </p:nvSpPr>
        <p:spPr>
          <a:xfrm>
            <a:off x="457200" y="723900"/>
            <a:ext cx="8229600" cy="2514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13) Jerry starts walking towards South from his house. After travelling 10 meters, he turns left and walks 6 meters. He turns left and walks 26 meters and then he turns right and walks 4 meters. Finally, he turns right and walks for 16 meters. How far is he from his house and in which direction?</a:t>
            </a:r>
            <a:br>
              <a:rPr lang="en-GB" sz="2400"/>
            </a:br>
            <a:r>
              <a:rPr lang="en-GB" sz="2400"/>
              <a:t>a) 10 East 	b) 20 West  	c) 16 East  	d) 26 West </a:t>
            </a:r>
            <a:r>
              <a:rPr lang="en-GB" sz="2000"/>
              <a:t/>
            </a:r>
            <a:br>
              <a:rPr lang="en-GB" sz="2000"/>
            </a:br>
            <a:endParaRPr sz="240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pic>
        <p:nvPicPr>
          <p:cNvPr id="584" name="Google Shape;584;p68"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85" name="Google Shape;585;p68"/>
          <p:cNvSpPr txBox="1">
            <a:spLocks noGrp="1"/>
          </p:cNvSpPr>
          <p:nvPr>
            <p:ph type="title"/>
          </p:nvPr>
        </p:nvSpPr>
        <p:spPr>
          <a:xfrm>
            <a:off x="457200" y="723900"/>
            <a:ext cx="8229600" cy="2514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13) Jerry starts walking towards South from his house. After travelling 10 meters, he turns left and walks 6 meters. He turns left and walks 26 meters and then he turns right and walks 4 meters. Finally, he turns right and walks for 16 meters. How far is he from his house and in which direction?</a:t>
            </a:r>
            <a:br>
              <a:rPr lang="en-GB" sz="2400"/>
            </a:br>
            <a:r>
              <a:rPr lang="en-GB" sz="2400">
                <a:solidFill>
                  <a:srgbClr val="FF0000"/>
                </a:solidFill>
              </a:rPr>
              <a:t>a) 10 East </a:t>
            </a:r>
            <a:r>
              <a:rPr lang="en-GB" sz="2400"/>
              <a:t>	b) 20 West  	c) 16 East  	d) 26 West </a:t>
            </a:r>
            <a:r>
              <a:rPr lang="en-GB" sz="2000"/>
              <a:t/>
            </a:r>
            <a:br>
              <a:rPr lang="en-GB" sz="2000"/>
            </a:br>
            <a:endParaRPr sz="2400"/>
          </a:p>
        </p:txBody>
      </p:sp>
      <p:pic>
        <p:nvPicPr>
          <p:cNvPr id="586" name="Google Shape;586;p68" descr="direction 3b -67679528"/>
          <p:cNvPicPr preferRelativeResize="0"/>
          <p:nvPr/>
        </p:nvPicPr>
        <p:blipFill rotWithShape="1">
          <a:blip r:embed="rId4">
            <a:alphaModFix/>
          </a:blip>
          <a:srcRect/>
          <a:stretch/>
        </p:blipFill>
        <p:spPr>
          <a:xfrm>
            <a:off x="762000" y="3009900"/>
            <a:ext cx="1905000" cy="2238376"/>
          </a:xfrm>
          <a:prstGeom prst="rect">
            <a:avLst/>
          </a:prstGeom>
          <a:noFill/>
          <a:ln>
            <a:noFill/>
          </a:ln>
        </p:spPr>
      </p:pic>
      <p:pic>
        <p:nvPicPr>
          <p:cNvPr id="587" name="Google Shape;587;p68"/>
          <p:cNvPicPr preferRelativeResize="0"/>
          <p:nvPr/>
        </p:nvPicPr>
        <p:blipFill rotWithShape="1">
          <a:blip r:embed="rId5">
            <a:alphaModFix/>
          </a:blip>
          <a:srcRect/>
          <a:stretch/>
        </p:blipFill>
        <p:spPr>
          <a:xfrm>
            <a:off x="2743200" y="4305300"/>
            <a:ext cx="865573" cy="990600"/>
          </a:xfrm>
          <a:prstGeom prst="rect">
            <a:avLst/>
          </a:prstGeom>
          <a:noFill/>
          <a:ln>
            <a:noFill/>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69"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93" name="Google Shape;593;p69"/>
          <p:cNvSpPr txBox="1">
            <a:spLocks noGrp="1"/>
          </p:cNvSpPr>
          <p:nvPr>
            <p:ph type="title"/>
          </p:nvPr>
        </p:nvSpPr>
        <p:spPr>
          <a:xfrm>
            <a:off x="457200" y="723900"/>
            <a:ext cx="8229600" cy="2895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14) A tourist drives 10 Km towards East and turns to the right hand and drives 3 Km. Then, he drives towards West (turning to his right) 3 Km. He, then turns to his left and drives 2 Km. Finally he turns to his right and travels 7 Km. How far is he from his starting point and in which direction would he be?</a:t>
            </a:r>
            <a:br>
              <a:rPr lang="en-GB" sz="2400"/>
            </a:br>
            <a:r>
              <a:rPr lang="en-GB" sz="2400"/>
              <a:t>a)  10 Km, East 	b) 9 Km, North  	c) 8 Km, West  </a:t>
            </a:r>
            <a:br>
              <a:rPr lang="en-GB" sz="2400"/>
            </a:br>
            <a:r>
              <a:rPr lang="en-GB" sz="2400"/>
              <a:t>d) 5 Km, South </a:t>
            </a:r>
            <a:r>
              <a:rPr lang="en-GB" sz="2000"/>
              <a:t/>
            </a:r>
            <a:br>
              <a:rPr lang="en-GB" sz="2000"/>
            </a:br>
            <a:endParaRPr sz="240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pic>
        <p:nvPicPr>
          <p:cNvPr id="598" name="Google Shape;598;p70"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599" name="Google Shape;599;p70"/>
          <p:cNvSpPr txBox="1">
            <a:spLocks noGrp="1"/>
          </p:cNvSpPr>
          <p:nvPr>
            <p:ph type="title"/>
          </p:nvPr>
        </p:nvSpPr>
        <p:spPr>
          <a:xfrm>
            <a:off x="457200" y="723900"/>
            <a:ext cx="8229600" cy="2895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14) A tourist drives 10 Km towards East and turns to the right hand and drives 3 Km. Then, he drives towards West (turning to his right) 3 Km. He, then turns to his left and drives 2 Km. Finally he turns to his right and travels 7 Km. How far is he from his starting point and in which direction would he be?</a:t>
            </a:r>
            <a:br>
              <a:rPr lang="en-GB" sz="2400"/>
            </a:br>
            <a:r>
              <a:rPr lang="en-GB" sz="2400"/>
              <a:t>a)  10 Km, East 	b) 9 Km, North  	c) 8 Km, West  </a:t>
            </a:r>
            <a:br>
              <a:rPr lang="en-GB" sz="2400"/>
            </a:br>
            <a:r>
              <a:rPr lang="en-GB" sz="2400">
                <a:solidFill>
                  <a:srgbClr val="FF0000"/>
                </a:solidFill>
              </a:rPr>
              <a:t>d) 5 Km, South </a:t>
            </a:r>
            <a:r>
              <a:rPr lang="en-GB" sz="2000"/>
              <a:t/>
            </a:r>
            <a:br>
              <a:rPr lang="en-GB" sz="2000"/>
            </a:br>
            <a:endParaRPr sz="2400"/>
          </a:p>
        </p:txBody>
      </p:sp>
      <p:pic>
        <p:nvPicPr>
          <p:cNvPr id="600" name="Google Shape;600;p70"/>
          <p:cNvPicPr preferRelativeResize="0"/>
          <p:nvPr/>
        </p:nvPicPr>
        <p:blipFill rotWithShape="1">
          <a:blip r:embed="rId4">
            <a:alphaModFix/>
          </a:blip>
          <a:srcRect/>
          <a:stretch/>
        </p:blipFill>
        <p:spPr>
          <a:xfrm>
            <a:off x="838200" y="3467100"/>
            <a:ext cx="4572000" cy="1752600"/>
          </a:xfrm>
          <a:prstGeom prst="rect">
            <a:avLst/>
          </a:prstGeom>
          <a:noFill/>
          <a:ln>
            <a:noFill/>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605" name="Google Shape;605;p71"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606" name="Google Shape;606;p71"/>
          <p:cNvSpPr txBox="1">
            <a:spLocks noGrp="1"/>
          </p:cNvSpPr>
          <p:nvPr>
            <p:ph type="title"/>
          </p:nvPr>
        </p:nvSpPr>
        <p:spPr>
          <a:xfrm>
            <a:off x="457200" y="723900"/>
            <a:ext cx="8229600" cy="2438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15) Maddy starts from his house towards West. After walking a distance of 30 metres, he turned towards right and walked 20 metres. He then turned left and moving a distance of 10 metres, turned to his left again and walked 40 metres. He now turns to the left and walks 6 metres. Finally he turns to his left. In which direction is he walking now?</a:t>
            </a:r>
            <a:br>
              <a:rPr lang="en-GB" sz="2400"/>
            </a:br>
            <a:r>
              <a:rPr lang="en-GB" sz="2400"/>
              <a:t> a) East 	b)South 	c)North 	d)South west</a:t>
            </a:r>
            <a:r>
              <a:rPr lang="en-GB" sz="2000"/>
              <a:t/>
            </a:r>
            <a:br>
              <a:rPr lang="en-GB" sz="2000"/>
            </a:br>
            <a:endParaRPr sz="240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pic>
        <p:nvPicPr>
          <p:cNvPr id="611" name="Google Shape;611;p72"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612" name="Google Shape;612;p72"/>
          <p:cNvSpPr txBox="1">
            <a:spLocks noGrp="1"/>
          </p:cNvSpPr>
          <p:nvPr>
            <p:ph type="title"/>
          </p:nvPr>
        </p:nvSpPr>
        <p:spPr>
          <a:xfrm>
            <a:off x="457200" y="723900"/>
            <a:ext cx="8229600" cy="2438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GB" sz="2400"/>
              <a:t>15) Maddy starts from his house towards West. After walking a distance of 30 metres, he turned towards right and walked 20 metres. He then turned left and moving a distance of 10 metres, turned to his left again and walked 40 metres. He now turns to the left and walks 5 metres. Finally he turns to his left. In which direction is he walking now?</a:t>
            </a:r>
            <a:br>
              <a:rPr lang="en-GB" sz="2400"/>
            </a:br>
            <a:r>
              <a:rPr lang="en-GB" sz="2400"/>
              <a:t> a) East 	b)South 	</a:t>
            </a:r>
            <a:r>
              <a:rPr lang="en-GB" sz="2400">
                <a:solidFill>
                  <a:srgbClr val="FF0000"/>
                </a:solidFill>
              </a:rPr>
              <a:t>c)North</a:t>
            </a:r>
            <a:r>
              <a:rPr lang="en-GB" sz="2400"/>
              <a:t> 	d)South west</a:t>
            </a:r>
            <a:r>
              <a:rPr lang="en-GB" sz="2000"/>
              <a:t/>
            </a:r>
            <a:br>
              <a:rPr lang="en-GB" sz="2000"/>
            </a:br>
            <a:endParaRPr sz="2400"/>
          </a:p>
        </p:txBody>
      </p:sp>
      <p:pic>
        <p:nvPicPr>
          <p:cNvPr id="613" name="Google Shape;613;p72" descr="http://www.treeknox.com/general/vebal_reasoning/direction-sense-test/question1.jpg"/>
          <p:cNvPicPr preferRelativeResize="0"/>
          <p:nvPr/>
        </p:nvPicPr>
        <p:blipFill rotWithShape="1">
          <a:blip r:embed="rId4">
            <a:alphaModFix/>
          </a:blip>
          <a:srcRect/>
          <a:stretch/>
        </p:blipFill>
        <p:spPr>
          <a:xfrm>
            <a:off x="685799" y="3162300"/>
            <a:ext cx="3640015" cy="2057400"/>
          </a:xfrm>
          <a:prstGeom prst="rect">
            <a:avLst/>
          </a:prstGeom>
          <a:noFill/>
          <a:ln>
            <a:noFill/>
          </a:ln>
        </p:spPr>
      </p:pic>
      <p:pic>
        <p:nvPicPr>
          <p:cNvPr id="614" name="Google Shape;614;p72"/>
          <p:cNvPicPr preferRelativeResize="0"/>
          <p:nvPr/>
        </p:nvPicPr>
        <p:blipFill rotWithShape="1">
          <a:blip r:embed="rId5">
            <a:alphaModFix/>
          </a:blip>
          <a:srcRect/>
          <a:stretch/>
        </p:blipFill>
        <p:spPr>
          <a:xfrm>
            <a:off x="4724400" y="3695700"/>
            <a:ext cx="1331662" cy="1524000"/>
          </a:xfrm>
          <a:prstGeom prst="rect">
            <a:avLst/>
          </a:prstGeom>
          <a:noFill/>
          <a:ln>
            <a:noFill/>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pic>
        <p:nvPicPr>
          <p:cNvPr id="619" name="Google Shape;619;p73"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620" name="Google Shape;620;p73"/>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r>
              <a:rPr lang="en-GB" sz="2400"/>
              <a:t>16) P, Q, R and S are playing a game of carrom. P,R and S, Q are partners. S is to the right of R who is facing west. Then, Q is facing</a:t>
            </a:r>
            <a:endParaRPr sz="2400"/>
          </a:p>
          <a:p>
            <a:pPr marL="0" lvl="0" indent="0" algn="l" rtl="0">
              <a:lnSpc>
                <a:spcPct val="115000"/>
              </a:lnSpc>
              <a:spcBef>
                <a:spcPts val="1200"/>
              </a:spcBef>
              <a:spcAft>
                <a:spcPts val="1200"/>
              </a:spcAft>
              <a:buClr>
                <a:schemeClr val="dk1"/>
              </a:buClr>
              <a:buSzPts val="1100"/>
              <a:buFont typeface="Arial"/>
              <a:buNone/>
            </a:pPr>
            <a:r>
              <a:rPr lang="en-GB" sz="2400"/>
              <a:t>a) East 		b)West 		c)South 		d)North</a:t>
            </a:r>
            <a:endParaRPr sz="240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pic>
        <p:nvPicPr>
          <p:cNvPr id="625" name="Google Shape;625;gd499836902_0_2" descr="Photo PowerPoint Background90411169"/>
          <p:cNvPicPr preferRelativeResize="0"/>
          <p:nvPr/>
        </p:nvPicPr>
        <p:blipFill rotWithShape="1">
          <a:blip r:embed="rId3">
            <a:alphaModFix/>
          </a:blip>
          <a:srcRect/>
          <a:stretch/>
        </p:blipFill>
        <p:spPr>
          <a:xfrm>
            <a:off x="-152399" y="-190500"/>
            <a:ext cx="9448799" cy="6096000"/>
          </a:xfrm>
          <a:prstGeom prst="rect">
            <a:avLst/>
          </a:prstGeom>
          <a:noFill/>
          <a:ln>
            <a:noFill/>
          </a:ln>
        </p:spPr>
      </p:pic>
      <p:sp>
        <p:nvSpPr>
          <p:cNvPr id="626" name="Google Shape;626;gd499836902_0_2"/>
          <p:cNvSpPr txBox="1">
            <a:spLocks noGrp="1"/>
          </p:cNvSpPr>
          <p:nvPr>
            <p:ph type="title"/>
          </p:nvPr>
        </p:nvSpPr>
        <p:spPr>
          <a:xfrm>
            <a:off x="457200" y="723900"/>
            <a:ext cx="8229600" cy="213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r>
              <a:rPr lang="en-GB" sz="2400"/>
              <a:t>16) P, Q, R and S are playing a game of carrom. P,R and S, Q are partners. S is to the right of R who is facing west. Then, Q is facing</a:t>
            </a:r>
            <a:endParaRPr sz="2400"/>
          </a:p>
          <a:p>
            <a:pPr marL="0" lvl="0" indent="0" algn="l" rtl="0">
              <a:lnSpc>
                <a:spcPct val="115000"/>
              </a:lnSpc>
              <a:spcBef>
                <a:spcPts val="1200"/>
              </a:spcBef>
              <a:spcAft>
                <a:spcPts val="1200"/>
              </a:spcAft>
              <a:buClr>
                <a:schemeClr val="dk1"/>
              </a:buClr>
              <a:buSzPts val="1100"/>
              <a:buFont typeface="Arial"/>
              <a:buNone/>
            </a:pPr>
            <a:r>
              <a:rPr lang="en-GB" sz="2400"/>
              <a:t>a) East 		b)West 		c)South 		</a:t>
            </a:r>
            <a:r>
              <a:rPr lang="en-GB" sz="2400">
                <a:solidFill>
                  <a:srgbClr val="FF0000"/>
                </a:solidFill>
              </a:rPr>
              <a:t>d)North</a:t>
            </a:r>
            <a:endParaRPr sz="2400">
              <a:solidFill>
                <a:srgbClr val="FF0000"/>
              </a:solidFill>
            </a:endParaRPr>
          </a:p>
        </p:txBody>
      </p:sp>
      <p:pic>
        <p:nvPicPr>
          <p:cNvPr id="627" name="Google Shape;627;gd499836902_0_2"/>
          <p:cNvPicPr preferRelativeResize="0"/>
          <p:nvPr/>
        </p:nvPicPr>
        <p:blipFill>
          <a:blip r:embed="rId4">
            <a:alphaModFix/>
          </a:blip>
          <a:stretch>
            <a:fillRect/>
          </a:stretch>
        </p:blipFill>
        <p:spPr>
          <a:xfrm>
            <a:off x="1357875" y="2857500"/>
            <a:ext cx="3493425" cy="2558925"/>
          </a:xfrm>
          <a:prstGeom prst="rect">
            <a:avLst/>
          </a:prstGeom>
          <a:noFill/>
          <a:ln>
            <a:noFill/>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pic>
        <p:nvPicPr>
          <p:cNvPr id="632" name="Google Shape;632;p74" descr="Photo PowerPoint Background90411169"/>
          <p:cNvPicPr preferRelativeResize="0"/>
          <p:nvPr/>
        </p:nvPicPr>
        <p:blipFill rotWithShape="1">
          <a:blip r:embed="rId3">
            <a:alphaModFix/>
          </a:blip>
          <a:srcRect/>
          <a:stretch/>
        </p:blipFill>
        <p:spPr>
          <a:xfrm>
            <a:off x="-152399" y="-190500"/>
            <a:ext cx="9448800" cy="6096000"/>
          </a:xfrm>
          <a:prstGeom prst="rect">
            <a:avLst/>
          </a:prstGeom>
          <a:noFill/>
          <a:ln>
            <a:noFill/>
          </a:ln>
        </p:spPr>
      </p:pic>
      <p:sp>
        <p:nvSpPr>
          <p:cNvPr id="633" name="Google Shape;633;p74"/>
          <p:cNvSpPr txBox="1">
            <a:spLocks noGrp="1"/>
          </p:cNvSpPr>
          <p:nvPr>
            <p:ph type="title"/>
          </p:nvPr>
        </p:nvSpPr>
        <p:spPr>
          <a:xfrm>
            <a:off x="457200" y="723900"/>
            <a:ext cx="8229600" cy="2575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r>
              <a:rPr lang="en-GB" sz="2400"/>
              <a:t>17) A girl leaves from her home. She first walks 30 metres in North–west direction and then 30 metres in South–west direction. Next, she walks 30 metres in South-east direction. Finally, she turns towards her house. In which direction is she moving?</a:t>
            </a:r>
            <a:endParaRPr sz="2400"/>
          </a:p>
          <a:p>
            <a:pPr marL="0" lvl="0" indent="0" algn="l" rtl="0">
              <a:lnSpc>
                <a:spcPct val="115000"/>
              </a:lnSpc>
              <a:spcBef>
                <a:spcPts val="1200"/>
              </a:spcBef>
              <a:spcAft>
                <a:spcPts val="1200"/>
              </a:spcAft>
              <a:buClr>
                <a:schemeClr val="dk1"/>
              </a:buClr>
              <a:buSzPts val="1100"/>
              <a:buFont typeface="Arial"/>
              <a:buNone/>
            </a:pPr>
            <a:r>
              <a:rPr lang="en-GB" sz="2400"/>
              <a:t>a) North–East 	 b) North–West   c) South–East      d)South–East</a:t>
            </a:r>
            <a:r>
              <a:rPr lang="en-GB" sz="2000"/>
              <a:t/>
            </a:r>
            <a:br>
              <a:rPr lang="en-GB" sz="2000"/>
            </a:br>
            <a:endParaRPr sz="240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pic>
        <p:nvPicPr>
          <p:cNvPr id="638" name="Google Shape;638;gd499836902_0_7" descr="Photo PowerPoint Background90411169"/>
          <p:cNvPicPr preferRelativeResize="0"/>
          <p:nvPr/>
        </p:nvPicPr>
        <p:blipFill rotWithShape="1">
          <a:blip r:embed="rId3">
            <a:alphaModFix/>
          </a:blip>
          <a:srcRect/>
          <a:stretch/>
        </p:blipFill>
        <p:spPr>
          <a:xfrm>
            <a:off x="-152399" y="-190500"/>
            <a:ext cx="9448799" cy="6096000"/>
          </a:xfrm>
          <a:prstGeom prst="rect">
            <a:avLst/>
          </a:prstGeom>
          <a:noFill/>
          <a:ln>
            <a:noFill/>
          </a:ln>
        </p:spPr>
      </p:pic>
      <p:sp>
        <p:nvSpPr>
          <p:cNvPr id="639" name="Google Shape;639;gd499836902_0_7"/>
          <p:cNvSpPr txBox="1">
            <a:spLocks noGrp="1"/>
          </p:cNvSpPr>
          <p:nvPr>
            <p:ph type="title"/>
          </p:nvPr>
        </p:nvSpPr>
        <p:spPr>
          <a:xfrm>
            <a:off x="457200" y="723900"/>
            <a:ext cx="8229600" cy="2575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r>
              <a:rPr lang="en-GB" sz="2400"/>
              <a:t>17) A girl leaves from her home. She first walks 30 metres in North–west direction and then 30 metres in South–west direction. Next, she walks 30 metres in South-east direction. Finally, she turns towards her house. In which direction is she moving?</a:t>
            </a:r>
            <a:endParaRPr sz="2400"/>
          </a:p>
          <a:p>
            <a:pPr marL="0" lvl="0" indent="0" algn="l" rtl="0">
              <a:lnSpc>
                <a:spcPct val="115000"/>
              </a:lnSpc>
              <a:spcBef>
                <a:spcPts val="1200"/>
              </a:spcBef>
              <a:spcAft>
                <a:spcPts val="1200"/>
              </a:spcAft>
              <a:buClr>
                <a:schemeClr val="dk1"/>
              </a:buClr>
              <a:buSzPts val="1100"/>
              <a:buFont typeface="Arial"/>
              <a:buNone/>
            </a:pPr>
            <a:r>
              <a:rPr lang="en-GB" sz="2400">
                <a:solidFill>
                  <a:srgbClr val="FF0000"/>
                </a:solidFill>
              </a:rPr>
              <a:t>a) North–East</a:t>
            </a:r>
            <a:r>
              <a:rPr lang="en-GB" sz="2400"/>
              <a:t> 	 b) North–West   c) South–East      d)South–East</a:t>
            </a:r>
            <a:r>
              <a:rPr lang="en-GB" sz="2000"/>
              <a:t/>
            </a:r>
            <a:br>
              <a:rPr lang="en-GB" sz="2000"/>
            </a:br>
            <a:endParaRPr sz="2400"/>
          </a:p>
        </p:txBody>
      </p:sp>
      <p:pic>
        <p:nvPicPr>
          <p:cNvPr id="640" name="Google Shape;640;gd499836902_0_7"/>
          <p:cNvPicPr preferRelativeResize="0"/>
          <p:nvPr/>
        </p:nvPicPr>
        <p:blipFill>
          <a:blip r:embed="rId4">
            <a:alphaModFix/>
          </a:blip>
          <a:stretch>
            <a:fillRect/>
          </a:stretch>
        </p:blipFill>
        <p:spPr>
          <a:xfrm>
            <a:off x="893775" y="3163400"/>
            <a:ext cx="2982075" cy="2121850"/>
          </a:xfrm>
          <a:prstGeom prst="rect">
            <a:avLst/>
          </a:prstGeom>
          <a:noFill/>
          <a:ln>
            <a:noFill/>
          </a:ln>
        </p:spPr>
      </p:pic>
      <p:pic>
        <p:nvPicPr>
          <p:cNvPr id="641" name="Google Shape;641;gd499836902_0_7"/>
          <p:cNvPicPr preferRelativeResize="0"/>
          <p:nvPr/>
        </p:nvPicPr>
        <p:blipFill rotWithShape="1">
          <a:blip r:embed="rId5">
            <a:alphaModFix/>
          </a:blip>
          <a:srcRect/>
          <a:stretch/>
        </p:blipFill>
        <p:spPr>
          <a:xfrm>
            <a:off x="5230325" y="3620750"/>
            <a:ext cx="1331662" cy="1524000"/>
          </a:xfrm>
          <a:prstGeom prst="rect">
            <a:avLst/>
          </a:prstGeom>
          <a:noFill/>
          <a:ln>
            <a:noFill/>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78"/>
          <p:cNvSpPr txBox="1">
            <a:spLocks noGrp="1"/>
          </p:cNvSpPr>
          <p:nvPr>
            <p:ph type="title"/>
          </p:nvPr>
        </p:nvSpPr>
        <p:spPr>
          <a:xfrm>
            <a:off x="457200" y="228865"/>
            <a:ext cx="8229600" cy="952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647" name="Google Shape;647;p78"/>
          <p:cNvSpPr txBox="1">
            <a:spLocks noGrp="1"/>
          </p:cNvSpPr>
          <p:nvPr>
            <p:ph type="body" idx="1"/>
          </p:nvPr>
        </p:nvSpPr>
        <p:spPr>
          <a:xfrm>
            <a:off x="457200" y="1333500"/>
            <a:ext cx="8229600" cy="3771636"/>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648" name="Google Shape;648;p78" descr="Thank You Card With Pink Phlox Background And Elegant Script.. Stock Photo,  Picture And Royalty Free Image. Image 3038981."/>
          <p:cNvPicPr preferRelativeResize="0"/>
          <p:nvPr/>
        </p:nvPicPr>
        <p:blipFill rotWithShape="1">
          <a:blip r:embed="rId3">
            <a:alphaModFix/>
          </a:blip>
          <a:srcRect/>
          <a:stretch/>
        </p:blipFill>
        <p:spPr>
          <a:xfrm>
            <a:off x="0" y="0"/>
            <a:ext cx="9310705" cy="6202363"/>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TotalTime>
  <Words>2703</Words>
  <PresentationFormat>On-screen Show (16:10)</PresentationFormat>
  <Paragraphs>138</Paragraphs>
  <Slides>77</Slides>
  <Notes>77</Notes>
  <HiddenSlides>0</HiddenSlides>
  <MMClips>0</MMClips>
  <ScaleCrop>false</ScaleCrop>
  <HeadingPairs>
    <vt:vector size="4" baseType="variant">
      <vt:variant>
        <vt:lpstr>Theme</vt:lpstr>
      </vt:variant>
      <vt:variant>
        <vt:i4>1</vt:i4>
      </vt:variant>
      <vt:variant>
        <vt:lpstr>Slide Titles</vt:lpstr>
      </vt:variant>
      <vt:variant>
        <vt:i4>77</vt:i4>
      </vt:variant>
    </vt:vector>
  </HeadingPairs>
  <TitlesOfParts>
    <vt:vector size="78" baseType="lpstr">
      <vt:lpstr>Office Theme</vt:lpstr>
      <vt:lpstr>5</vt:lpstr>
      <vt:lpstr>Introduction</vt:lpstr>
      <vt:lpstr>Introduction</vt:lpstr>
      <vt:lpstr>Introduction</vt:lpstr>
      <vt:lpstr>Introduction</vt:lpstr>
      <vt:lpstr>Type 1: Siva starting from his house, goes 5 km in the East, then he turns to his left and goes 4 km. Finally he turns to his left and goes 5 km. Now how far is he from his house and in what direction?</vt:lpstr>
      <vt:lpstr>Type 1: Siva starting from his house, goes 5 km in the East, then he turns to his left and goes 4 km. Finally he turns to his left and goes 5 km. Now how far is he from his house and in what direction?</vt:lpstr>
      <vt:lpstr>Type 2: Suresh starting from his house, goes 4 km in the East, then he turns to his right and goes 3 km. What minimum distance will be covered by him to come back to his house?</vt:lpstr>
      <vt:lpstr>Type 2: Suresh starting from his house, goes 4 km in the East, then he turns to his right and goes 3 km. What minimum distance will be covered by him to come back to his house?</vt:lpstr>
      <vt:lpstr>Reena walked from A to B in the East 10 feet. Then she turned to the right and walked 3 feet. Again she turned to the right and walked 14 feet. How far is she from A?  a) 4 feet b) 5 feet c) 24 feet d) 27 feet</vt:lpstr>
      <vt:lpstr>Reena walked from A to B in the East 10 feet. Then she turned to the right and walked 3 feet. Again she turned to the right and walked 14 feet. How far is she from A?  a) 4 feet b) 5 feet c) 24 feet d) 27 feet</vt:lpstr>
      <vt:lpstr>A man walks 5 km toward south and then turns to the right. After walking 3 km he turns to the left and walks 5 km. Now in which direction is he from the starting place? a)West b)South  c)North-East  d)South-West </vt:lpstr>
      <vt:lpstr>A man walks 5 km toward south and then turns to the right. After walking 3 km he turns to the left and walks 5 km. Now in which direction is he from the starting place?  a)West b)South  c)North-East  d)South-West</vt:lpstr>
      <vt:lpstr> Mani walks 2 km towards North. Then he turns to East and walks 10 km. After this he turns to North and walks 3 km. Again he turns towards East and walks 2 km. How far is he from the starting point? a) 14 km b) 13 km c) 15 km d) 10 km</vt:lpstr>
      <vt:lpstr> Mani walks 2 km towards North. Then he turns to East and walks 10 km. After this he turns to North and walks 3 km. Again he turns towards East and walks 2 km. How far is he from the starting point?  a) 14 km b) 13 km c) 15 km d) 10 km</vt:lpstr>
      <vt:lpstr>Type 3 : A man is facing north-west. He turns 90 degrees  in the clockwise direction, then 180 degrees  in the anticlockwise direction and then another 90degrees  in the same direction. Which direction is he facing now? </vt:lpstr>
      <vt:lpstr>Type 3 : A man is facing north-west. He turns 90 degrees  in the clockwise direction, then 180 degrees  in the anticlockwise direction and then another 90degrees  in the same direction. Which direction is he facing now?  Ans: South-East </vt:lpstr>
      <vt:lpstr>A man is facing towards the west and turns through 45° clockwise, again 180° clockwise and then turns through 270° anti-clockwise. In which direction is he facing now? a)South-west b)North-west c)west d)South</vt:lpstr>
      <vt:lpstr>A man is facing towards the west and turns through 45° clockwise, again 180° clockwise and then turns through 270° anti-clockwise. In which direction is he facing now? a)South-west   b)North-west   c)west      d)South</vt:lpstr>
      <vt:lpstr> A girl facing north rotates 100(degree) clockwise then 190(degree) anticlockwise. what is new direction of the girl ?  a) North-East    b) West    c) South-East       d) South  </vt:lpstr>
      <vt:lpstr> A girl facing north rotates 100(degree) clockwise then 190(degree) anticlockwise. what is new direction of the girl ?  a) North-East    b) West    c) South-East       d) South  </vt:lpstr>
      <vt:lpstr>P started from his house towards west. After walking a distance of 25 m. He turned to the right and walked 10 m. He then again turned to the right and walked 15 m. After this he is to turn right at 135o and to cover 30 m. In which direction should he go? a) West b) South c) South-West         d) South-East </vt:lpstr>
      <vt:lpstr>P started from his house towards west. After walking a distance of 25 m. He turned to the right and walked 10 m. He then again turned to the right and walked 15 m. After this he is to turn right at 135o and to cover 30 m. In which direction should he go?  a) West b) South c) South-West         d) South-East</vt:lpstr>
      <vt:lpstr>Type 4 : If South-East becomes North, North-East becomes West and so on. What will West become? </vt:lpstr>
      <vt:lpstr>Type 4 : If South-East becomes North, North-East becomes West and so on. What will West become? </vt:lpstr>
      <vt:lpstr>A compass was damaged and its needle turned in such a manner that the pointer, which was showing East, now showed north. One person went towards west as per the above mentioned compass. In which direction did he actually go?  a) North b) South c) South-west d) North- east</vt:lpstr>
      <vt:lpstr>A compass was damaged and its needle turned in such a manner that the pointer, which was showing East, now showed north. One person went towards west as per the above mentioned compass. In which direction did he actually go?  a) North b) South c) South-west d) North- east</vt:lpstr>
      <vt:lpstr> Rahul put his timepiece on the table in such a way that at 6 P.M. hour hand points to North. In which direction the minute hand will point at 9.15 P.M. ? a) South-East b) South c) North d) West</vt:lpstr>
      <vt:lpstr> Rahul put his timepiece on the table in such a way that at 6 P.M. hour hand points to North. In which direction the minute hand will point at 9.15 P.M. ?  a) South-East b) South c) North d) West</vt:lpstr>
      <vt:lpstr>Type 5: Hema starting from her house walked 5 km to reach the crossing of Palace. In which direction she was going, a road opposite to this direction goes to Hospital. The road to the right goes to station. If the road which goes to station is just opposite to the road which IT-Park, then in which direction to Hema is the road which goes to IT-Park?</vt:lpstr>
      <vt:lpstr>Type 5: Hema starting from her house walked 5 km to reach the crossing of Palace. In which direction she was going, a road opposite to this direction goes to Hospital. The road to the right goes to station. If the road which goes to station is just opposite to the road which IT-Park, then in which direction to Hema is the road which goes to IT-Park?</vt:lpstr>
      <vt:lpstr>Hemant in order to go to university started from his house in the east and came to a crossing. The road to the left ends in a theatre, straight ahead is the hospital. In which direction is the university? a) North b) South c) East  d) West</vt:lpstr>
      <vt:lpstr>Hemant in order to go to university started from his house in the east and came to a crossing. The road to the left ends in a theatre, straight ahead is the hospital. In which direction is the university?  a) North b) South c) East  d) West</vt:lpstr>
      <vt:lpstr>Type 6:  One evening  at the time of  sunset Juhi while returning from  school met Lalli at Boring road crossing. Lalli's shadow was exactly to the right of Juhi. If they were face to face, which direction was Juhi facing?</vt:lpstr>
      <vt:lpstr>Type 6: One evening  at the time of  sunset Juhi while returning from  school met Lalli at Boring road crossing. Lalli's shadow was exactly to the right of Juhi. If they were face to face, which direction was Juhi facing?</vt:lpstr>
      <vt:lpstr> One morning after sunrise, Suresh was standing facing a pole. The shadow of the pole fell exactly to his right. To which direction was he facing? a) East   b) West    c) South  d) Data is inadequate </vt:lpstr>
      <vt:lpstr> One morning after sunrise, Suresh was standing facing a pole. The shadow of the pole fell exactly to his right. To which direction was he facing? a) East   b) West    c) South  d) Data is inadequate </vt:lpstr>
      <vt:lpstr> Village Q is to the North of the village P. The village R is in the East of Village Q. The village S is to the left of the village P. In which direction is the village S with respect to village R? a) West b) South-West  c) South      d) North-West</vt:lpstr>
      <vt:lpstr> Village Q is to the North of the village P. The village R is in the East of Village Q. The village S is to the left of the village P. In which direction is the village S with respect to village R?  a) West b) South-West  c) South      d) North-West</vt:lpstr>
      <vt:lpstr>Slide 40</vt:lpstr>
      <vt:lpstr>1) A man went 10 kms  towards  South. Then turned East and covered 10 kms and turned to the right. Again after 10 kms, he turned to left and covered 10 kms to reach the destination. How far is he from his starting point? a) 18.8 km b) 28.28 km c) 16 km d) 20 km </vt:lpstr>
      <vt:lpstr>1) A man went 10 kms  towards  South. Then turned East and covered 10 kms and turned to the right. Again after 10 kms, he turned to left and covered 10 kms to reach the destination. How far is he from his starting point? a) 18.8 km b) 28.28 km c) 16 km d) 20 km </vt:lpstr>
      <vt:lpstr>2) Anil wants to go the university. He starts from his house which is in the East and comes to a crossing. The road to his left ends in a theatre, straight ahead is the hospital. In which direction is the University? a) East   b) North  c) South  d) West  </vt:lpstr>
      <vt:lpstr>2) Anil wants to go the university. He starts from his house which is in the East and comes to a crossing. The road to his left ends in a theatre, straight ahead is the hospital. In which direction is the University? a) East   b) North  c) South  d) West  </vt:lpstr>
      <vt:lpstr>3) If South-East becomes North, North-East becomes West and so on, what will West become? a) North  b) East  c) South-East       d) North-West </vt:lpstr>
      <vt:lpstr>3) If South-East becomes North, North-East becomes West and so on, what will West become? a) North  b) East  c) South-East       d) North-West </vt:lpstr>
      <vt:lpstr>3) If South-East becomes North, North-East becomes West and so on, what will West become? a) North  b) East  c) South-East       d) North-West </vt:lpstr>
      <vt:lpstr>4) A man walks 1 km towards East and then he turns to South and walks 5 km. Again he turns to East and walks 2 km, after this he turns to North and walks 9 km .Now, how far is he from his starting point? a) 10 km  b) 9 km  c) 5 km  d) 4 km  </vt:lpstr>
      <vt:lpstr>4) A man walks 1 km towards East and then he turns to South and walks 5 km. Again he turns to East and walks 2 km, after this he turns to North and walks 9 km .Now, how far is he from his starting point? a) 10 km  b) 9 km  c) 5 km  d) 4 km  </vt:lpstr>
      <vt:lpstr>5) I am facing South.  I turn right and walk 20m .Then I turn right again and walk 10m .Then I turn left and walk 10 m and then turning right walk 20 m. Then, I turn right again and walks 60 m. In which direction am I from the starting point? a) North-East      b) North-West  c) North  d) West </vt:lpstr>
      <vt:lpstr>5) I am facing South.  I turn right and walk 20m .Then I turn right again and walk 10m .Then I turn left and walk 10 m and then turning right walk 20 m. Then, I turn right again and walks 60 m. In which direction am I from the starting point? a) North-East      b) North-West  c) North  d) West </vt:lpstr>
      <vt:lpstr>6) One day, Raviraj left home and cycled 20 Km southwards, turned right and cycled 10 km and turned right and cycled 20 Km and turned left and cycled 20 Km. How many kilometers will he have to cycle to reach his home straight ? a) 50 Km  b)30 Km  c) 40 Km  d) 60 Km  </vt:lpstr>
      <vt:lpstr>6) One day, Raviraj left home and cycled 20 Km southwards, turned right and cycled 10 km and turned right and cycled 20 Km and turned left and cycled 20 Km. How many kilometers will he have to cycle to reach his home straight ? a) 50 Km  b)30 Km  c) 40 Km  d) 60 Km  </vt:lpstr>
      <vt:lpstr>7) Kunal walks 10 km towards North. From there he walks 6 Km towards South. Then, he walks 3 Km towards east. How far and in which direction is he with reference to his starting point ? a) 5 Km North   b) 5 Km South   c) 5 Km East  d) 5 Km North-East  </vt:lpstr>
      <vt:lpstr>7) Kunal walks 10 km towards North. From there he walks 6 Km towards South. Then, he walks 3 Km towards east. How far and in which direction is he with reference to his starting point ? a) 5 Km North   b) 5 Km South   c) 5 Km East  d) 5 Km North-East  </vt:lpstr>
      <vt:lpstr>8) If East becomes South, west becomes North and so on, What will be the direction for South-West? a)North-west        b)South-East  c)East        d)North   </vt:lpstr>
      <vt:lpstr>8) If East becomes South, west becomes North and so on, What will be the direction for South-West? a)North-west        b)South-East  c)East        d)North   </vt:lpstr>
      <vt:lpstr>8) If East becomes South, west becomes North and so on, What will be the direction for South-West? a)North-west        b)South-East  c)East        d)North  </vt:lpstr>
      <vt:lpstr>9) Joe is walking towards North for 15 miles, turns left and walks another 10 miles. He then turns right and walks 10 miles. Now, he again turns right and walks 30 miles. Which direction is he from Starting point? a) South-East    b) North-East    c) North-West d) South-West    e) None of these </vt:lpstr>
      <vt:lpstr>9) Joe is walking towards North for 15 miles, turns left and walks another 10 miles. He then turns right and walks 10 miles. Now, he again turns right and walks 30 miles. Which direction is he from Starting point? a) South-East   b) North-East    c) North-West d) South-West    e) None of these </vt:lpstr>
      <vt:lpstr>10) There are four towns P, Q, R and T. Q is to the South-west of P, R is to the east of Q and south-east of P, and T is to the north of R in line with QP. In which direction of P is T located? a) South–east        b)South     c)North–east  d)East  </vt:lpstr>
      <vt:lpstr>10) There are four towns P, Q, R and T. Q is to the South-west of P, R is to the east of Q and south-east of P, and T is to the north of R in line with QP. In which direction of P is T located? a) South–east        b) South     c) North–east  d) East  </vt:lpstr>
      <vt:lpstr>11) Harry walks 25 meters towards North from his friend’s house. Then he turns left and walks 32 meters. He again turns left and walks 25 meters. Further, he moves 25 meters after turning to his right. How far is he from his friend’s house? a) 50  b) 7  c) 57 d) 0  </vt:lpstr>
      <vt:lpstr>11) Harry walks 25 meters towards North from his friend’s house. Then he turns left and walks 32 meters. He again turns left and walks 25 meters. Further, he moves 25 meters after turning to his right. How far is he from his friend’s house? a) 50  b) 7  c) 57 d) 0  </vt:lpstr>
      <vt:lpstr>12) A car travels 25 kms towards south from garage. It turns left and travels 30 kms, then turns right and travels 15 kms. how far is car from the garage and in which direction? a) 40 North-East   b) 70 South-East c) 60 North-East   d) 50 South-East  </vt:lpstr>
      <vt:lpstr>12) A car travels 25 kms towards south from garage. It turns left and travels 30 kms, then turns right and travels 15 kms. How far is car from the garage and in which direction? a) 40 North-East   b) 70 South-East c) 60 North-East   d) 50 South-East  </vt:lpstr>
      <vt:lpstr>13) Jerry starts walking towards South from his house. After travelling 10 meters, he turns left and walks 6 meters. He turns left and walks 26 meters and then he turns right and walks 4 meters. Finally, he turns right and walks for 16 meters. How far is he from his house and in which direction? a) 10 East  b) 20 West   c) 16 East   d) 26 West  </vt:lpstr>
      <vt:lpstr>13) Jerry starts walking towards South from his house. After travelling 10 meters, he turns left and walks 6 meters. He turns left and walks 26 meters and then he turns right and walks 4 meters. Finally, he turns right and walks for 16 meters. How far is he from his house and in which direction? a) 10 East  b) 20 West   c) 16 East   d) 26 West  </vt:lpstr>
      <vt:lpstr>14) A tourist drives 10 Km towards East and turns to the right hand and drives 3 Km. Then, he drives towards West (turning to his right) 3 Km. He, then turns to his left and drives 2 Km. Finally he turns to his right and travels 7 Km. How far is he from his starting point and in which direction would he be? a)  10 Km, East  b) 9 Km, North   c) 8 Km, West   d) 5 Km, South  </vt:lpstr>
      <vt:lpstr>14) A tourist drives 10 Km towards East and turns to the right hand and drives 3 Km. Then, he drives towards West (turning to his right) 3 Km. He, then turns to his left and drives 2 Km. Finally he turns to his right and travels 7 Km. How far is he from his starting point and in which direction would he be? a)  10 Km, East  b) 9 Km, North   c) 8 Km, West   d) 5 Km, South  </vt:lpstr>
      <vt:lpstr>15) Maddy starts from his house towards West. After walking a distance of 30 metres, he turned towards right and walked 20 metres. He then turned left and moving a distance of 10 metres, turned to his left again and walked 40 metres. He now turns to the left and walks 6 metres. Finally he turns to his left. In which direction is he walking now?  a) East  b)South  c)North  d)South west </vt:lpstr>
      <vt:lpstr>15) Maddy starts from his house towards West. After walking a distance of 30 metres, he turned towards right and walked 20 metres. He then turned left and moving a distance of 10 metres, turned to his left again and walked 40 metres. He now turns to the left and walks 5 metres. Finally he turns to his left. In which direction is he walking now?  a) East  b)South  c)North  d)South west </vt:lpstr>
      <vt:lpstr>16) P, Q, R and S are playing a game of carrom. P,R and S, Q are partners. S is to the right of R who is facing west. Then, Q is facing a) East   b)West   c)South   d)North</vt:lpstr>
      <vt:lpstr>16) P, Q, R and S are playing a game of carrom. P,R and S, Q are partners. S is to the right of R who is facing west. Then, Q is facing a) East   b)West   c)South   d)North</vt:lpstr>
      <vt:lpstr>17) A girl leaves from her home. She first walks 30 metres in North–west direction and then 30 metres in South–west direction. Next, she walks 30 metres in South-east direction. Finally, she turns towards her house. In which direction is she moving? a) North–East   b) North–West   c) South–East      d)South–East </vt:lpstr>
      <vt:lpstr>17) A girl leaves from her home. She first walks 30 metres in North–west direction and then 30 metres in South–west direction. Next, she walks 30 metres in South-east direction. Finally, she turns towards her house. In which direction is she moving? a) North–East   b) North–West   c) South–East      d)South–East </vt:lpstr>
      <vt:lpstr>Slide 77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Techo</cp:lastModifiedBy>
  <cp:revision>6</cp:revision>
  <dcterms:created xsi:type="dcterms:W3CDTF">2006-08-16T00:00:00Z</dcterms:created>
  <dcterms:modified xsi:type="dcterms:W3CDTF">2021-05-09T07:56:35Z</dcterms:modified>
</cp:coreProperties>
</file>